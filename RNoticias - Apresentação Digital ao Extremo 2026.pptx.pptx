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JetBrains Mono" charset="0"/>
      <p:regular r:id="rId14"/>
    </p:embeddedFont>
    <p:embeddedFont>
      <p:font typeface="JetBrains Mono Bold" charset="0"/>
      <p:regular r:id="rId15"/>
    </p:embeddedFont>
    <p:embeddedFont>
      <p:font typeface="Merriweather Bold" charset="0"/>
      <p:regular r:id="rId16"/>
    </p:embeddedFont>
    <p:embeddedFont>
      <p:font typeface="Arimo Bold" charset="0"/>
      <p:regular r:id="rId17"/>
    </p:embeddedFont>
    <p:embeddedFont>
      <p:font typeface="Arimo" charset="0"/>
      <p:regular r:id="rId18"/>
    </p:embeddedFon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Merriweather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3" d="100"/>
          <a:sy n="63" d="100"/>
        </p:scale>
        <p:origin x="-384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78BA3-04D3-423C-A829-6F291A96A80A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C1BF3-0993-4895-A89E-FD580680B8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968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5C1BF3-0993-4895-A89E-FD580680B84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876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8158162"/>
            <a:ext cx="16459200" cy="1328738"/>
            <a:chOff x="0" y="0"/>
            <a:chExt cx="21945600" cy="1771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771650"/>
            </a:xfrm>
            <a:custGeom>
              <a:avLst/>
              <a:gdLst/>
              <a:ahLst/>
              <a:cxnLst/>
              <a:rect l="l" t="t" r="r" b="b"/>
              <a:pathLst>
                <a:path w="21945600" h="1771650">
                  <a:moveTo>
                    <a:pt x="0" y="0"/>
                  </a:moveTo>
                  <a:lnTo>
                    <a:pt x="21945600" y="0"/>
                  </a:lnTo>
                  <a:lnTo>
                    <a:pt x="2194560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565981" y="792956"/>
            <a:ext cx="3814762" cy="471488"/>
            <a:chOff x="0" y="0"/>
            <a:chExt cx="5086350" cy="6286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6350" cy="628650"/>
            </a:xfrm>
            <a:custGeom>
              <a:avLst/>
              <a:gdLst/>
              <a:ahLst/>
              <a:cxnLst/>
              <a:rect l="l" t="t" r="r" b="b"/>
              <a:pathLst>
                <a:path w="5086350" h="628650">
                  <a:moveTo>
                    <a:pt x="0" y="117856"/>
                  </a:moveTo>
                  <a:cubicBezTo>
                    <a:pt x="0" y="52832"/>
                    <a:pt x="52832" y="0"/>
                    <a:pt x="117856" y="0"/>
                  </a:cubicBezTo>
                  <a:lnTo>
                    <a:pt x="4968494" y="0"/>
                  </a:lnTo>
                  <a:cubicBezTo>
                    <a:pt x="5033645" y="0"/>
                    <a:pt x="5086350" y="52832"/>
                    <a:pt x="5086350" y="117856"/>
                  </a:cubicBezTo>
                  <a:lnTo>
                    <a:pt x="5086350" y="510794"/>
                  </a:lnTo>
                  <a:cubicBezTo>
                    <a:pt x="5086350" y="575945"/>
                    <a:pt x="5033518" y="628650"/>
                    <a:pt x="4968494" y="628650"/>
                  </a:cubicBezTo>
                  <a:lnTo>
                    <a:pt x="117856" y="628650"/>
                  </a:lnTo>
                  <a:cubicBezTo>
                    <a:pt x="52832" y="628650"/>
                    <a:pt x="0" y="575818"/>
                    <a:pt x="0" y="510794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14400" y="8158162"/>
            <a:ext cx="57150" cy="1328738"/>
            <a:chOff x="0" y="0"/>
            <a:chExt cx="76200" cy="17716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00" cy="1771650"/>
            </a:xfrm>
            <a:custGeom>
              <a:avLst/>
              <a:gdLst/>
              <a:ahLst/>
              <a:cxnLst/>
              <a:rect l="l" t="t" r="r" b="b"/>
              <a:pathLst>
                <a:path w="76200" h="1771650">
                  <a:moveTo>
                    <a:pt x="0" y="0"/>
                  </a:moveTo>
                  <a:lnTo>
                    <a:pt x="76200" y="0"/>
                  </a:lnTo>
                  <a:lnTo>
                    <a:pt x="76200" y="1771650"/>
                  </a:lnTo>
                  <a:lnTo>
                    <a:pt x="0" y="17716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4400" y="857250"/>
            <a:ext cx="1457325" cy="342900"/>
            <a:chOff x="0" y="0"/>
            <a:chExt cx="1943100" cy="457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43100" cy="457200"/>
            </a:xfrm>
            <a:custGeom>
              <a:avLst/>
              <a:gdLst/>
              <a:ahLst/>
              <a:cxnLst/>
              <a:rect l="l" t="t" r="r" b="b"/>
              <a:pathLst>
                <a:path w="1943100" h="4572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866900" y="0"/>
                  </a:lnTo>
                  <a:cubicBezTo>
                    <a:pt x="1908937" y="0"/>
                    <a:pt x="1943100" y="34163"/>
                    <a:pt x="1943100" y="76200"/>
                  </a:cubicBezTo>
                  <a:lnTo>
                    <a:pt x="1943100" y="381000"/>
                  </a:lnTo>
                  <a:cubicBezTo>
                    <a:pt x="1943100" y="423037"/>
                    <a:pt x="1908937" y="457200"/>
                    <a:pt x="18669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14400" y="3970582"/>
            <a:ext cx="742950" cy="742950"/>
            <a:chOff x="0" y="0"/>
            <a:chExt cx="990600" cy="990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838200" y="0"/>
                  </a:lnTo>
                  <a:cubicBezTo>
                    <a:pt x="922401" y="0"/>
                    <a:pt x="990600" y="68199"/>
                    <a:pt x="990600" y="152400"/>
                  </a:cubicBezTo>
                  <a:lnTo>
                    <a:pt x="990600" y="838200"/>
                  </a:lnTo>
                  <a:cubicBezTo>
                    <a:pt x="990600" y="922401"/>
                    <a:pt x="922401" y="990600"/>
                    <a:pt x="838200" y="990600"/>
                  </a:cubicBezTo>
                  <a:lnTo>
                    <a:pt x="152400" y="990600"/>
                  </a:lnTo>
                  <a:cubicBezTo>
                    <a:pt x="68199" y="990600"/>
                    <a:pt x="0" y="922401"/>
                    <a:pt x="0" y="83820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85850" y="971550"/>
            <a:ext cx="128588" cy="114300"/>
            <a:chOff x="0" y="0"/>
            <a:chExt cx="171450" cy="1524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171450" h="152400">
                  <a:moveTo>
                    <a:pt x="0" y="0"/>
                  </a:moveTo>
                  <a:lnTo>
                    <a:pt x="171450" y="0"/>
                  </a:lnTo>
                  <a:lnTo>
                    <a:pt x="17145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3773150" y="876300"/>
            <a:ext cx="35433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Digital ao Extremo 2026 · CEEP HXV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" y="5004044"/>
            <a:ext cx="11858625" cy="102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Informação rápida, local e acessível na palma da mão para toda a comunidade.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00162" y="914400"/>
            <a:ext cx="1042988" cy="228600"/>
            <a:chOff x="0" y="0"/>
            <a:chExt cx="1390650" cy="304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90650" cy="304800"/>
            </a:xfrm>
            <a:custGeom>
              <a:avLst/>
              <a:gdLst/>
              <a:ahLst/>
              <a:cxnLst/>
              <a:rect l="l" t="t" r="r" b="b"/>
              <a:pathLst>
                <a:path w="1390650" h="304800">
                  <a:moveTo>
                    <a:pt x="0" y="0"/>
                  </a:moveTo>
                  <a:lnTo>
                    <a:pt x="1390650" y="0"/>
                  </a:lnTo>
                  <a:lnTo>
                    <a:pt x="13906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900" b="-3890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390650" cy="31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55"/>
                </a:lnSpc>
              </a:pPr>
              <a:r>
                <a:rPr lang="en-US" sz="1462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AO VIVO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543175" y="873919"/>
            <a:ext cx="4768453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PORTAL DE NOTÍCIAS COMUNITÁRIO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00088" y="3970582"/>
            <a:ext cx="1171575" cy="742950"/>
            <a:chOff x="0" y="0"/>
            <a:chExt cx="1562100" cy="990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62100" cy="990600"/>
            </a:xfrm>
            <a:custGeom>
              <a:avLst/>
              <a:gdLst/>
              <a:ahLst/>
              <a:cxnLst/>
              <a:rect l="l" t="t" r="r" b="b"/>
              <a:pathLst>
                <a:path w="1562100" h="990600">
                  <a:moveTo>
                    <a:pt x="0" y="0"/>
                  </a:moveTo>
                  <a:lnTo>
                    <a:pt x="1562100" y="0"/>
                  </a:lnTo>
                  <a:lnTo>
                    <a:pt x="15621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363" r="-3136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562100" cy="1009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315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885950" y="3841994"/>
            <a:ext cx="495061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RNoticias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28750" y="8491537"/>
            <a:ext cx="8447484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EQUIPE DE DESENVOLVIMENTO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8750" y="8805863"/>
            <a:ext cx="8447484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Grupo RNoticias · Turma 2º A (Técnico em Informática)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04947" y="8505825"/>
            <a:ext cx="5911453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55"/>
              </a:lnSpc>
            </a:pPr>
            <a:r>
              <a:rPr lang="en-US" sz="1462" b="1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INTEGRANTES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04947" y="8810625"/>
            <a:ext cx="5911453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1F5F9"/>
                </a:solidFill>
                <a:latin typeface="Arimo Bold"/>
                <a:ea typeface="Arimo Bold"/>
                <a:cs typeface="Arimo Bold"/>
                <a:sym typeface="Arimo Bold"/>
              </a:rPr>
              <a:t>Isac Oliveira · Enzo Gabriel · William Gabriel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256" y="3521869"/>
            <a:ext cx="7900988" cy="3128962"/>
            <a:chOff x="0" y="0"/>
            <a:chExt cx="10534650" cy="4171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34650" cy="4171950"/>
            </a:xfrm>
            <a:custGeom>
              <a:avLst/>
              <a:gdLst/>
              <a:ahLst/>
              <a:cxnLst/>
              <a:rect l="l" t="t" r="r" b="b"/>
              <a:pathLst>
                <a:path w="10534650" h="4171950">
                  <a:moveTo>
                    <a:pt x="0" y="306197"/>
                  </a:moveTo>
                  <a:cubicBezTo>
                    <a:pt x="0" y="137033"/>
                    <a:pt x="137033" y="0"/>
                    <a:pt x="306197" y="0"/>
                  </a:cubicBezTo>
                  <a:lnTo>
                    <a:pt x="10228453" y="0"/>
                  </a:lnTo>
                  <a:cubicBezTo>
                    <a:pt x="10397490" y="0"/>
                    <a:pt x="10534650" y="137033"/>
                    <a:pt x="10534650" y="306197"/>
                  </a:cubicBezTo>
                  <a:lnTo>
                    <a:pt x="10534650" y="3865753"/>
                  </a:lnTo>
                  <a:cubicBezTo>
                    <a:pt x="10534650" y="4034790"/>
                    <a:pt x="10397617" y="4171950"/>
                    <a:pt x="10228453" y="4171950"/>
                  </a:cubicBezTo>
                  <a:lnTo>
                    <a:pt x="306197" y="4171950"/>
                  </a:lnTo>
                  <a:cubicBezTo>
                    <a:pt x="137033" y="4171950"/>
                    <a:pt x="0" y="4034917"/>
                    <a:pt x="0" y="3865753"/>
                  </a:cubicBezTo>
                  <a:close/>
                </a:path>
              </a:pathLst>
            </a:custGeom>
            <a:solidFill>
              <a:srgbClr val="FEF2F2"/>
            </a:solidFill>
            <a:ln w="14288" cap="sq">
              <a:solidFill>
                <a:srgbClr val="FECACA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14400" y="6929438"/>
            <a:ext cx="7886700" cy="1114425"/>
            <a:chOff x="0" y="0"/>
            <a:chExt cx="10515600" cy="1485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15600" cy="1485900"/>
            </a:xfrm>
            <a:custGeom>
              <a:avLst/>
              <a:gdLst/>
              <a:ahLst/>
              <a:cxnLst/>
              <a:rect l="l" t="t" r="r" b="b"/>
              <a:pathLst>
                <a:path w="10515600" h="1485900">
                  <a:moveTo>
                    <a:pt x="0" y="0"/>
                  </a:moveTo>
                  <a:lnTo>
                    <a:pt x="10515600" y="0"/>
                  </a:lnTo>
                  <a:lnTo>
                    <a:pt x="105156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6929438"/>
            <a:ext cx="57150" cy="1114425"/>
            <a:chOff x="0" y="0"/>
            <a:chExt cx="76200" cy="1485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6200" cy="1485900"/>
            </a:xfrm>
            <a:custGeom>
              <a:avLst/>
              <a:gdLst/>
              <a:ahLst/>
              <a:cxnLst/>
              <a:rect l="l" t="t" r="r" b="b"/>
              <a:pathLst>
                <a:path w="76200" h="1485900">
                  <a:moveTo>
                    <a:pt x="0" y="0"/>
                  </a:moveTo>
                  <a:lnTo>
                    <a:pt x="76200" y="0"/>
                  </a:lnTo>
                  <a:lnTo>
                    <a:pt x="762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486900" y="3143250"/>
            <a:ext cx="7886700" cy="4857750"/>
            <a:chOff x="0" y="0"/>
            <a:chExt cx="10515600" cy="6477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10515600" cy="6477000"/>
            </a:xfrm>
            <a:custGeom>
              <a:avLst/>
              <a:gdLst/>
              <a:ahLst/>
              <a:cxnLst/>
              <a:rect l="l" t="t" r="r" b="b"/>
              <a:pathLst>
                <a:path w="10515600" h="6477000">
                  <a:moveTo>
                    <a:pt x="0" y="0"/>
                  </a:moveTo>
                  <a:lnTo>
                    <a:pt x="10515600" y="0"/>
                  </a:lnTo>
                  <a:lnTo>
                    <a:pt x="10515600" y="6477000"/>
                  </a:lnTo>
                  <a:lnTo>
                    <a:pt x="0" y="647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9501188" y="3157538"/>
            <a:ext cx="7858125" cy="4829175"/>
            <a:chOff x="0" y="0"/>
            <a:chExt cx="10477500" cy="64389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0477500" cy="6438900"/>
            </a:xfrm>
            <a:custGeom>
              <a:avLst/>
              <a:gdLst/>
              <a:ahLst/>
              <a:cxnLst/>
              <a:rect l="l" t="t" r="r" b="b"/>
              <a:pathLst>
                <a:path w="10477500" h="6438900">
                  <a:moveTo>
                    <a:pt x="0" y="0"/>
                  </a:moveTo>
                  <a:lnTo>
                    <a:pt x="10477500" y="0"/>
                  </a:lnTo>
                  <a:lnTo>
                    <a:pt x="10477500" y="6438900"/>
                  </a:lnTo>
                  <a:lnTo>
                    <a:pt x="0" y="643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3" b="-11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914400" y="676275"/>
            <a:ext cx="1578134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1. O PROBLEMA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" y="1028700"/>
            <a:ext cx="173736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Acesso Limitado a Notícias Confiáveis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15225" y="8162925"/>
            <a:ext cx="9858375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575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Fonte: Pesquisa Mídia Digital 2025 · Foto: Editorial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43038" y="4191000"/>
            <a:ext cx="8536781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67%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3038" y="5334000"/>
            <a:ext cx="69723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das pessoas enfrentam dificuldades para acessar notícias locais atualizadas e de fácil navegação.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4450" y="7167562"/>
            <a:ext cx="72866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Sites de notícias tradicionais muitas vezes são pesados, lentos no 3G/4G e com navegação confusa.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04800" y="3619500"/>
            <a:ext cx="7415212" cy="3059982"/>
            <a:chOff x="0" y="0"/>
            <a:chExt cx="9886950" cy="40799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86950" cy="4080002"/>
            </a:xfrm>
            <a:custGeom>
              <a:avLst/>
              <a:gdLst/>
              <a:ahLst/>
              <a:cxnLst/>
              <a:rect l="l" t="t" r="r" b="b"/>
              <a:pathLst>
                <a:path w="9886950" h="4080002">
                  <a:moveTo>
                    <a:pt x="0" y="306197"/>
                  </a:moveTo>
                  <a:cubicBezTo>
                    <a:pt x="0" y="137033"/>
                    <a:pt x="137033" y="0"/>
                    <a:pt x="306197" y="0"/>
                  </a:cubicBezTo>
                  <a:lnTo>
                    <a:pt x="9580753" y="0"/>
                  </a:lnTo>
                  <a:cubicBezTo>
                    <a:pt x="9749917" y="0"/>
                    <a:pt x="9886950" y="137033"/>
                    <a:pt x="9886950" y="306197"/>
                  </a:cubicBezTo>
                  <a:lnTo>
                    <a:pt x="9886950" y="3773805"/>
                  </a:lnTo>
                  <a:cubicBezTo>
                    <a:pt x="9886950" y="3942969"/>
                    <a:pt x="9749917" y="4080002"/>
                    <a:pt x="9580753" y="4080002"/>
                  </a:cubicBezTo>
                  <a:lnTo>
                    <a:pt x="306197" y="4080002"/>
                  </a:lnTo>
                  <a:cubicBezTo>
                    <a:pt x="137033" y="4080002"/>
                    <a:pt x="0" y="3942842"/>
                    <a:pt x="0" y="377380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8229600" y="5981700"/>
            <a:ext cx="9169299" cy="1195996"/>
            <a:chOff x="0" y="0"/>
            <a:chExt cx="11391900" cy="1485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391900" cy="1485900"/>
            </a:xfrm>
            <a:custGeom>
              <a:avLst/>
              <a:gdLst/>
              <a:ahLst/>
              <a:cxnLst/>
              <a:rect l="l" t="t" r="r" b="b"/>
              <a:pathLst>
                <a:path w="11391900" h="1485900">
                  <a:moveTo>
                    <a:pt x="0" y="0"/>
                  </a:moveTo>
                  <a:lnTo>
                    <a:pt x="11391900" y="0"/>
                  </a:lnTo>
                  <a:lnTo>
                    <a:pt x="113919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FEF2F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077200" y="3390900"/>
            <a:ext cx="4477318" cy="1993327"/>
            <a:chOff x="0" y="0"/>
            <a:chExt cx="5562600" cy="2476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562600" cy="2476500"/>
            </a:xfrm>
            <a:custGeom>
              <a:avLst/>
              <a:gdLst/>
              <a:ahLst/>
              <a:cxnLst/>
              <a:rect l="l" t="t" r="r" b="b"/>
              <a:pathLst>
                <a:path w="5562600" h="24765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332222" y="0"/>
                  </a:lnTo>
                  <a:cubicBezTo>
                    <a:pt x="5459476" y="0"/>
                    <a:pt x="5562600" y="103124"/>
                    <a:pt x="5562600" y="230378"/>
                  </a:cubicBezTo>
                  <a:lnTo>
                    <a:pt x="5562600" y="2246122"/>
                  </a:lnTo>
                  <a:cubicBezTo>
                    <a:pt x="5562600" y="2373376"/>
                    <a:pt x="5459476" y="2476500"/>
                    <a:pt x="5332222" y="2476500"/>
                  </a:cubicBezTo>
                  <a:lnTo>
                    <a:pt x="230378" y="2476500"/>
                  </a:lnTo>
                  <a:cubicBezTo>
                    <a:pt x="103124" y="2476500"/>
                    <a:pt x="0" y="2373376"/>
                    <a:pt x="0" y="22461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983851" y="3390900"/>
            <a:ext cx="4477318" cy="1993327"/>
            <a:chOff x="0" y="0"/>
            <a:chExt cx="5562600" cy="24765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62600" cy="2476500"/>
            </a:xfrm>
            <a:custGeom>
              <a:avLst/>
              <a:gdLst/>
              <a:ahLst/>
              <a:cxnLst/>
              <a:rect l="l" t="t" r="r" b="b"/>
              <a:pathLst>
                <a:path w="5562600" h="247650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5332222" y="0"/>
                  </a:lnTo>
                  <a:cubicBezTo>
                    <a:pt x="5459476" y="0"/>
                    <a:pt x="5562600" y="103124"/>
                    <a:pt x="5562600" y="230378"/>
                  </a:cubicBezTo>
                  <a:lnTo>
                    <a:pt x="5562600" y="2246122"/>
                  </a:lnTo>
                  <a:cubicBezTo>
                    <a:pt x="5562600" y="2373376"/>
                    <a:pt x="5459476" y="2476500"/>
                    <a:pt x="5332222" y="2476500"/>
                  </a:cubicBezTo>
                  <a:lnTo>
                    <a:pt x="230378" y="2476500"/>
                  </a:lnTo>
                  <a:cubicBezTo>
                    <a:pt x="103124" y="2476500"/>
                    <a:pt x="0" y="2373376"/>
                    <a:pt x="0" y="22461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8229600" y="5981709"/>
            <a:ext cx="61333" cy="1195987"/>
            <a:chOff x="0" y="0"/>
            <a:chExt cx="76200" cy="14859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0" cy="1485900"/>
            </a:xfrm>
            <a:custGeom>
              <a:avLst/>
              <a:gdLst/>
              <a:ahLst/>
              <a:cxnLst/>
              <a:rect l="l" t="t" r="r" b="b"/>
              <a:pathLst>
                <a:path w="76200" h="1485900">
                  <a:moveTo>
                    <a:pt x="0" y="0"/>
                  </a:moveTo>
                  <a:lnTo>
                    <a:pt x="76200" y="0"/>
                  </a:lnTo>
                  <a:lnTo>
                    <a:pt x="76200" y="1485900"/>
                  </a:lnTo>
                  <a:lnTo>
                    <a:pt x="0" y="14859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26282" y="4040981"/>
            <a:ext cx="1028700" cy="1028700"/>
            <a:chOff x="0" y="0"/>
            <a:chExt cx="1371600" cy="13716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94" b="-69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54856" y="4069556"/>
            <a:ext cx="971550" cy="971550"/>
            <a:chOff x="0" y="0"/>
            <a:chExt cx="1295400" cy="12954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1295400" cy="1295400"/>
            </a:xfrm>
            <a:custGeom>
              <a:avLst/>
              <a:gdLst/>
              <a:ahLst/>
              <a:cxnLst/>
              <a:rect l="l" t="t" r="r" b="b"/>
              <a:pathLst>
                <a:path w="1295400" h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1295400"/>
                  </a:lnTo>
                  <a:lnTo>
                    <a:pt x="0" y="12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94" b="-695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914400" y="676275"/>
            <a:ext cx="173736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2. PÚBLICO-ALVO &amp; DESCOBERTAS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4400" y="1028700"/>
            <a:ext cx="173736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Para Quem é o RNoticias?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6282" y="5241131"/>
            <a:ext cx="6715125" cy="1016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00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Necessidade:</a:t>
            </a:r>
            <a:r>
              <a:rPr lang="en-US" sz="180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 Informar-se sobre transporte, emprego e eventos locais durante o trajeto de ônibus diário, em um site leve.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9649" y="6249718"/>
            <a:ext cx="8525301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O que isso mudou: Priorizamos layout limpo, carregamento em menos de 1 segundo e foco exclusivo em matérias comunitárias.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83582" y="4195762"/>
            <a:ext cx="358169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Mariana, 24 anos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83582" y="4614862"/>
            <a:ext cx="3411141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Estudante &amp; Trabalhadora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84381" y="3802274"/>
            <a:ext cx="4772476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DESCOBERTA 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4381" y="4081572"/>
            <a:ext cx="397132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Dificuldade em encontrar as informações principais em páginas poluídas.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291032" y="3797325"/>
            <a:ext cx="4234968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 dirty="0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DESCOBERTA 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91032" y="4068122"/>
            <a:ext cx="3971320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Falta de informações específicas dos bairros e projetos comunitários.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971675"/>
            <a:ext cx="16459200" cy="942975"/>
            <a:chOff x="0" y="0"/>
            <a:chExt cx="21945600" cy="1257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257300"/>
            </a:xfrm>
            <a:custGeom>
              <a:avLst/>
              <a:gdLst/>
              <a:ahLst/>
              <a:cxnLst/>
              <a:rect l="l" t="t" r="r" b="b"/>
              <a:pathLst>
                <a:path w="21945600" h="12573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1717000" y="0"/>
                  </a:lnTo>
                  <a:cubicBezTo>
                    <a:pt x="21843237" y="0"/>
                    <a:pt x="21945600" y="102362"/>
                    <a:pt x="21945600" y="228600"/>
                  </a:cubicBezTo>
                  <a:lnTo>
                    <a:pt x="21945600" y="1028700"/>
                  </a:lnTo>
                  <a:cubicBezTo>
                    <a:pt x="21945600" y="1154938"/>
                    <a:pt x="21843237" y="1257300"/>
                    <a:pt x="21717000" y="1257300"/>
                  </a:cubicBezTo>
                  <a:lnTo>
                    <a:pt x="228600" y="1257300"/>
                  </a:lnTo>
                  <a:cubicBezTo>
                    <a:pt x="102362" y="1257300"/>
                    <a:pt x="0" y="1154938"/>
                    <a:pt x="0" y="1028700"/>
                  </a:cubicBez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8558212"/>
            <a:ext cx="16459200" cy="1042988"/>
            <a:chOff x="0" y="0"/>
            <a:chExt cx="21945600" cy="13906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390650"/>
            </a:xfrm>
            <a:custGeom>
              <a:avLst/>
              <a:gdLst/>
              <a:ahLst/>
              <a:cxnLst/>
              <a:rect l="l" t="t" r="r" b="b"/>
              <a:pathLst>
                <a:path w="21945600" h="139065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1755100" y="0"/>
                  </a:lnTo>
                  <a:cubicBezTo>
                    <a:pt x="21860256" y="0"/>
                    <a:pt x="21945600" y="85344"/>
                    <a:pt x="21945600" y="190500"/>
                  </a:cubicBezTo>
                  <a:lnTo>
                    <a:pt x="21945600" y="1200150"/>
                  </a:lnTo>
                  <a:cubicBezTo>
                    <a:pt x="21945600" y="1305306"/>
                    <a:pt x="21860256" y="1390650"/>
                    <a:pt x="21755100" y="1390650"/>
                  </a:cubicBezTo>
                  <a:lnTo>
                    <a:pt x="190500" y="1390650"/>
                  </a:lnTo>
                  <a:cubicBezTo>
                    <a:pt x="85344" y="1390650"/>
                    <a:pt x="0" y="1305306"/>
                    <a:pt x="0" y="120015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07256" y="4479131"/>
            <a:ext cx="5310264" cy="2628900"/>
            <a:chOff x="0" y="0"/>
            <a:chExt cx="7080352" cy="350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80376" cy="3505200"/>
            </a:xfrm>
            <a:custGeom>
              <a:avLst/>
              <a:gdLst/>
              <a:ahLst/>
              <a:cxnLst/>
              <a:rect l="l" t="t" r="r" b="b"/>
              <a:pathLst>
                <a:path w="7080376" h="35052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6850507" y="0"/>
                  </a:lnTo>
                  <a:cubicBezTo>
                    <a:pt x="6977380" y="0"/>
                    <a:pt x="7080376" y="102870"/>
                    <a:pt x="7080376" y="229870"/>
                  </a:cubicBezTo>
                  <a:lnTo>
                    <a:pt x="7080376" y="3275330"/>
                  </a:lnTo>
                  <a:cubicBezTo>
                    <a:pt x="7080376" y="3402203"/>
                    <a:pt x="6977507" y="3505200"/>
                    <a:pt x="6850507" y="3505200"/>
                  </a:cubicBezTo>
                  <a:lnTo>
                    <a:pt x="229870" y="3505200"/>
                  </a:lnTo>
                  <a:cubicBezTo>
                    <a:pt x="102870" y="3505200"/>
                    <a:pt x="0" y="3402330"/>
                    <a:pt x="0" y="32753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488982" y="4479131"/>
            <a:ext cx="5310264" cy="2628900"/>
            <a:chOff x="0" y="0"/>
            <a:chExt cx="7080352" cy="3505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80376" cy="3505200"/>
            </a:xfrm>
            <a:custGeom>
              <a:avLst/>
              <a:gdLst/>
              <a:ahLst/>
              <a:cxnLst/>
              <a:rect l="l" t="t" r="r" b="b"/>
              <a:pathLst>
                <a:path w="7080376" h="35052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6850507" y="0"/>
                  </a:lnTo>
                  <a:cubicBezTo>
                    <a:pt x="6977380" y="0"/>
                    <a:pt x="7080376" y="102870"/>
                    <a:pt x="7080376" y="229870"/>
                  </a:cubicBezTo>
                  <a:lnTo>
                    <a:pt x="7080376" y="3275330"/>
                  </a:lnTo>
                  <a:cubicBezTo>
                    <a:pt x="7080376" y="3402203"/>
                    <a:pt x="6977507" y="3505200"/>
                    <a:pt x="6850507" y="3505200"/>
                  </a:cubicBezTo>
                  <a:lnTo>
                    <a:pt x="229870" y="3505200"/>
                  </a:lnTo>
                  <a:cubicBezTo>
                    <a:pt x="102870" y="3505200"/>
                    <a:pt x="0" y="3402330"/>
                    <a:pt x="0" y="32753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070709" y="4479131"/>
            <a:ext cx="5310264" cy="2628900"/>
            <a:chOff x="0" y="0"/>
            <a:chExt cx="7080352" cy="3505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80376" cy="3505200"/>
            </a:xfrm>
            <a:custGeom>
              <a:avLst/>
              <a:gdLst/>
              <a:ahLst/>
              <a:cxnLst/>
              <a:rect l="l" t="t" r="r" b="b"/>
              <a:pathLst>
                <a:path w="7080376" h="3505200">
                  <a:moveTo>
                    <a:pt x="0" y="229870"/>
                  </a:moveTo>
                  <a:cubicBezTo>
                    <a:pt x="0" y="102870"/>
                    <a:pt x="102870" y="0"/>
                    <a:pt x="229870" y="0"/>
                  </a:cubicBezTo>
                  <a:lnTo>
                    <a:pt x="6850507" y="0"/>
                  </a:lnTo>
                  <a:cubicBezTo>
                    <a:pt x="6977380" y="0"/>
                    <a:pt x="7080376" y="102870"/>
                    <a:pt x="7080376" y="229870"/>
                  </a:cubicBezTo>
                  <a:lnTo>
                    <a:pt x="7080376" y="3275330"/>
                  </a:lnTo>
                  <a:cubicBezTo>
                    <a:pt x="7080376" y="3402203"/>
                    <a:pt x="6977507" y="3505200"/>
                    <a:pt x="6850507" y="3505200"/>
                  </a:cubicBezTo>
                  <a:lnTo>
                    <a:pt x="229870" y="3505200"/>
                  </a:lnTo>
                  <a:cubicBezTo>
                    <a:pt x="102870" y="3505200"/>
                    <a:pt x="0" y="3402330"/>
                    <a:pt x="0" y="3275330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397558" y="8877895"/>
            <a:ext cx="6575992" cy="428625"/>
            <a:chOff x="0" y="0"/>
            <a:chExt cx="7353300" cy="4792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53300" cy="479290"/>
            </a:xfrm>
            <a:custGeom>
              <a:avLst/>
              <a:gdLst/>
              <a:ahLst/>
              <a:cxnLst/>
              <a:rect l="l" t="t" r="r" b="b"/>
              <a:pathLst>
                <a:path w="7353300" h="479290">
                  <a:moveTo>
                    <a:pt x="0" y="77723"/>
                  </a:moveTo>
                  <a:cubicBezTo>
                    <a:pt x="0" y="34803"/>
                    <a:pt x="51181" y="0"/>
                    <a:pt x="114300" y="0"/>
                  </a:cubicBezTo>
                  <a:lnTo>
                    <a:pt x="7239000" y="0"/>
                  </a:lnTo>
                  <a:cubicBezTo>
                    <a:pt x="7302119" y="0"/>
                    <a:pt x="7353300" y="34803"/>
                    <a:pt x="7353300" y="77723"/>
                  </a:cubicBezTo>
                  <a:lnTo>
                    <a:pt x="7353300" y="401567"/>
                  </a:lnTo>
                  <a:cubicBezTo>
                    <a:pt x="7353300" y="444488"/>
                    <a:pt x="7302119" y="479290"/>
                    <a:pt x="7239000" y="479290"/>
                  </a:cubicBezTo>
                  <a:lnTo>
                    <a:pt x="114300" y="479290"/>
                  </a:lnTo>
                  <a:cubicBezTo>
                    <a:pt x="51181" y="479290"/>
                    <a:pt x="0" y="444488"/>
                    <a:pt x="0" y="40156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71588" y="4843462"/>
            <a:ext cx="628650" cy="628650"/>
            <a:chOff x="0" y="0"/>
            <a:chExt cx="838200" cy="8382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6853314" y="4843462"/>
            <a:ext cx="628650" cy="628650"/>
            <a:chOff x="0" y="0"/>
            <a:chExt cx="838200" cy="8382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36" r="-1136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435040" y="4843462"/>
            <a:ext cx="628650" cy="628650"/>
            <a:chOff x="0" y="0"/>
            <a:chExt cx="838200" cy="8382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838200" cy="838200"/>
            </a:xfrm>
            <a:custGeom>
              <a:avLst/>
              <a:gdLst/>
              <a:ahLst/>
              <a:cxnLst/>
              <a:rect l="l" t="t" r="r" b="b"/>
              <a:pathLst>
                <a:path w="838200" h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36" r="-1136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314450" y="8922544"/>
            <a:ext cx="357188" cy="314325"/>
            <a:chOff x="0" y="0"/>
            <a:chExt cx="476250" cy="4191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476250" cy="419100"/>
            </a:xfrm>
            <a:custGeom>
              <a:avLst/>
              <a:gdLst/>
              <a:ahLst/>
              <a:cxnLst/>
              <a:rect l="l" t="t" r="r" b="b"/>
              <a:pathLst>
                <a:path w="476250" h="419100">
                  <a:moveTo>
                    <a:pt x="0" y="0"/>
                  </a:moveTo>
                  <a:lnTo>
                    <a:pt x="476250" y="0"/>
                  </a:lnTo>
                  <a:lnTo>
                    <a:pt x="4762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272" b="-2272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457325" y="5014912"/>
            <a:ext cx="257175" cy="285750"/>
            <a:chOff x="0" y="0"/>
            <a:chExt cx="342900" cy="3810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342900" cy="381000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7024764" y="5014912"/>
            <a:ext cx="285750" cy="285750"/>
            <a:chOff x="0" y="0"/>
            <a:chExt cx="381000" cy="38100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500" r="-2500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2606490" y="5014912"/>
            <a:ext cx="285750" cy="285750"/>
            <a:chOff x="0" y="0"/>
            <a:chExt cx="381000" cy="38100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500" r="-2500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914400" y="676275"/>
            <a:ext cx="173736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3. NOSSA SOLUÇÃO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1028700"/>
            <a:ext cx="173736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 Portal RNoticias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14450" y="2219325"/>
            <a:ext cx="1697355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</a:t>
            </a:r>
            <a:r>
              <a:rPr lang="en-US" sz="2250" b="1">
                <a:solidFill>
                  <a:srgbClr val="EF4444"/>
                </a:solidFill>
                <a:latin typeface="Arimo Bold"/>
                <a:ea typeface="Arimo Bold"/>
                <a:cs typeface="Arimo Bold"/>
                <a:sym typeface="Arimo Bold"/>
              </a:rPr>
              <a:t>RNoticias</a:t>
            </a:r>
            <a:r>
              <a:rPr lang="en-US" sz="2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ajuda os moradores a acessar notícias verificadas de forma leve, gratuita e intuitiva.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68181" y="8944570"/>
            <a:ext cx="6505369" cy="27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1824" b="1">
                <a:solidFill>
                  <a:srgbClr val="DC2626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https://isacamarmota.github.io/Digitao_Extremo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1588" y="5634037"/>
            <a:ext cx="6013352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Leitura Dinâmica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71588" y="6124575"/>
            <a:ext cx="4724476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Criamos</a:t>
            </a:r>
            <a:r>
              <a:rPr lang="en-US" sz="1800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um </a:t>
            </a:r>
            <a:r>
              <a:rPr lang="en-US" sz="1800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estilo</a:t>
            </a:r>
            <a:r>
              <a:rPr lang="en-US" sz="1800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1800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leitura</a:t>
            </a:r>
            <a:r>
              <a:rPr lang="en-US" sz="1800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e de </a:t>
            </a:r>
            <a:r>
              <a:rPr lang="en-US" sz="1800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publicação</a:t>
            </a:r>
            <a:endParaRPr lang="en-US" sz="1800" dirty="0" smtClean="0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160"/>
              </a:lnSpc>
            </a:pP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Que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funciona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como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uma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janela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onde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fica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conteúdo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da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notícia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1800" dirty="0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853314" y="5634037"/>
            <a:ext cx="6013352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Filtro de Seções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53314" y="6124575"/>
            <a:ext cx="4724476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Categorização</a:t>
            </a:r>
            <a:r>
              <a:rPr lang="en-US" sz="18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simples </a:t>
            </a:r>
            <a:r>
              <a:rPr lang="en-US" sz="1800" dirty="0" err="1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sz="1800" dirty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800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Cidade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Estados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Interesses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Classíficação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por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estrelas</a:t>
            </a:r>
            <a:r>
              <a:rPr lang="en-US" dirty="0" smtClean="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en-US" sz="1800" dirty="0">
              <a:solidFill>
                <a:srgbClr val="47556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35040" y="5634037"/>
            <a:ext cx="5852960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Modo Acessível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35040" y="6124575"/>
            <a:ext cx="472447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Suporte a ajuste de fonte e leitura adaptada para dispositivos móveis.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43088" y="8905875"/>
            <a:ext cx="4429125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DEMONSTRAÇÃO AO VIVO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256" y="3307556"/>
            <a:ext cx="9866862" cy="4957762"/>
            <a:chOff x="0" y="0"/>
            <a:chExt cx="13155816" cy="66103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155803" cy="6610350"/>
            </a:xfrm>
            <a:custGeom>
              <a:avLst/>
              <a:gdLst/>
              <a:ahLst/>
              <a:cxnLst/>
              <a:rect l="l" t="t" r="r" b="b"/>
              <a:pathLst>
                <a:path w="13155803" h="6610350">
                  <a:moveTo>
                    <a:pt x="0" y="229235"/>
                  </a:moveTo>
                  <a:cubicBezTo>
                    <a:pt x="0" y="102616"/>
                    <a:pt x="102616" y="0"/>
                    <a:pt x="229235" y="0"/>
                  </a:cubicBezTo>
                  <a:lnTo>
                    <a:pt x="12926568" y="0"/>
                  </a:lnTo>
                  <a:cubicBezTo>
                    <a:pt x="13053186" y="0"/>
                    <a:pt x="13155803" y="102616"/>
                    <a:pt x="13155803" y="229235"/>
                  </a:cubicBezTo>
                  <a:lnTo>
                    <a:pt x="13155803" y="6381115"/>
                  </a:lnTo>
                  <a:cubicBezTo>
                    <a:pt x="13155803" y="6507734"/>
                    <a:pt x="13053186" y="6610350"/>
                    <a:pt x="12926568" y="6610350"/>
                  </a:cubicBezTo>
                  <a:lnTo>
                    <a:pt x="229235" y="6610350"/>
                  </a:lnTo>
                  <a:cubicBezTo>
                    <a:pt x="102616" y="6610350"/>
                    <a:pt x="0" y="6507734"/>
                    <a:pt x="0" y="6381115"/>
                  </a:cubicBezTo>
                  <a:close/>
                </a:path>
              </a:pathLst>
            </a:custGeom>
            <a:solidFill>
              <a:srgbClr val="0F172A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1281324" y="3514725"/>
            <a:ext cx="6092276" cy="1371600"/>
            <a:chOff x="0" y="0"/>
            <a:chExt cx="8123034" cy="1828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3047" cy="1828800"/>
            </a:xfrm>
            <a:custGeom>
              <a:avLst/>
              <a:gdLst/>
              <a:ahLst/>
              <a:cxnLst/>
              <a:rect l="l" t="t" r="r" b="b"/>
              <a:pathLst>
                <a:path w="8123047" h="1828800">
                  <a:moveTo>
                    <a:pt x="0" y="0"/>
                  </a:moveTo>
                  <a:lnTo>
                    <a:pt x="8123047" y="0"/>
                  </a:lnTo>
                  <a:lnTo>
                    <a:pt x="8123047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281324" y="5114925"/>
            <a:ext cx="6092276" cy="1357312"/>
            <a:chOff x="0" y="0"/>
            <a:chExt cx="8123034" cy="18097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3047" cy="1809750"/>
            </a:xfrm>
            <a:custGeom>
              <a:avLst/>
              <a:gdLst/>
              <a:ahLst/>
              <a:cxnLst/>
              <a:rect l="l" t="t" r="r" b="b"/>
              <a:pathLst>
                <a:path w="8123047" h="1809750">
                  <a:moveTo>
                    <a:pt x="0" y="0"/>
                  </a:moveTo>
                  <a:lnTo>
                    <a:pt x="8123047" y="0"/>
                  </a:lnTo>
                  <a:lnTo>
                    <a:pt x="8123047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281324" y="6700838"/>
            <a:ext cx="6092276" cy="1357312"/>
            <a:chOff x="0" y="0"/>
            <a:chExt cx="8123034" cy="18097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3047" cy="1809750"/>
            </a:xfrm>
            <a:custGeom>
              <a:avLst/>
              <a:gdLst/>
              <a:ahLst/>
              <a:cxnLst/>
              <a:rect l="l" t="t" r="r" b="b"/>
              <a:pathLst>
                <a:path w="8123047" h="1809750">
                  <a:moveTo>
                    <a:pt x="0" y="0"/>
                  </a:moveTo>
                  <a:lnTo>
                    <a:pt x="8123047" y="0"/>
                  </a:lnTo>
                  <a:lnTo>
                    <a:pt x="8123047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271588" y="3671888"/>
            <a:ext cx="171450" cy="171450"/>
            <a:chOff x="0" y="0"/>
            <a:chExt cx="228600" cy="228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57338" y="3671888"/>
            <a:ext cx="171450" cy="171450"/>
            <a:chOff x="0" y="0"/>
            <a:chExt cx="228600" cy="228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843088" y="3671888"/>
            <a:ext cx="171450" cy="171450"/>
            <a:chOff x="0" y="0"/>
            <a:chExt cx="228600" cy="228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cubicBezTo>
                    <a:pt x="177419" y="0"/>
                    <a:pt x="228600" y="51181"/>
                    <a:pt x="228600" y="114300"/>
                  </a:cubicBezTo>
                  <a:cubicBezTo>
                    <a:pt x="228600" y="177419"/>
                    <a:pt x="177419" y="228600"/>
                    <a:pt x="114300" y="228600"/>
                  </a:cubicBezTo>
                  <a:cubicBezTo>
                    <a:pt x="51181" y="228600"/>
                    <a:pt x="0" y="177419"/>
                    <a:pt x="0" y="1143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281324" y="3514725"/>
            <a:ext cx="57150" cy="1371600"/>
            <a:chOff x="0" y="0"/>
            <a:chExt cx="76200" cy="1828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200" cy="1828800"/>
            </a:xfrm>
            <a:custGeom>
              <a:avLst/>
              <a:gdLst/>
              <a:ahLst/>
              <a:cxnLst/>
              <a:rect l="l" t="t" r="r" b="b"/>
              <a:pathLst>
                <a:path w="76200" h="1828800">
                  <a:moveTo>
                    <a:pt x="0" y="0"/>
                  </a:moveTo>
                  <a:lnTo>
                    <a:pt x="76200" y="0"/>
                  </a:lnTo>
                  <a:lnTo>
                    <a:pt x="7620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1281324" y="5114925"/>
            <a:ext cx="57150" cy="1357312"/>
            <a:chOff x="0" y="0"/>
            <a:chExt cx="76200" cy="18097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6200" cy="1809750"/>
            </a:xfrm>
            <a:custGeom>
              <a:avLst/>
              <a:gdLst/>
              <a:ahLst/>
              <a:cxnLst/>
              <a:rect l="l" t="t" r="r" b="b"/>
              <a:pathLst>
                <a:path w="76200" h="1809750">
                  <a:moveTo>
                    <a:pt x="0" y="0"/>
                  </a:moveTo>
                  <a:lnTo>
                    <a:pt x="76200" y="0"/>
                  </a:lnTo>
                  <a:lnTo>
                    <a:pt x="76200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281324" y="6700838"/>
            <a:ext cx="57150" cy="1357312"/>
            <a:chOff x="0" y="0"/>
            <a:chExt cx="76200" cy="18097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6200" cy="1809750"/>
            </a:xfrm>
            <a:custGeom>
              <a:avLst/>
              <a:gdLst/>
              <a:ahLst/>
              <a:cxnLst/>
              <a:rect l="l" t="t" r="r" b="b"/>
              <a:pathLst>
                <a:path w="76200" h="1809750">
                  <a:moveTo>
                    <a:pt x="0" y="0"/>
                  </a:moveTo>
                  <a:lnTo>
                    <a:pt x="76200" y="0"/>
                  </a:lnTo>
                  <a:lnTo>
                    <a:pt x="76200" y="1809750"/>
                  </a:lnTo>
                  <a:lnTo>
                    <a:pt x="0" y="180975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14400" y="676275"/>
            <a:ext cx="173736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4. DESENVOLVIMENTO TÉCNICO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4400" y="1028700"/>
            <a:ext cx="12634436" cy="114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Por Dentro do Código: Base de Dados Simples</a:t>
            </a:r>
          </a:p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(exemplo de codigo dos comentarios de demonstração)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1588" y="4081463"/>
            <a:ext cx="9281074" cy="1143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// Uma base de dados simulando umas noticia aí </a:t>
            </a:r>
            <a:r>
              <a:rPr lang="en-US" sz="1237">
                <a:solidFill>
                  <a:srgbClr val="F43F5E"/>
                </a:solidFill>
                <a:latin typeface="Arimo"/>
                <a:ea typeface="Arimo"/>
                <a:cs typeface="Arimo"/>
                <a:sym typeface="Arimo"/>
              </a:rPr>
              <a:t>const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37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newsDatabase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= {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"noticia-1"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{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id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"noticia-1"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cat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"Esporte"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title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"Equipe local se prepara..."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icon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"⚽"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rating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F59E0B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section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"esporte"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comments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[ // DESTAQUE: Estrutura de comentário aninhado {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user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"@FutTorcedor01"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stars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"★★★★☆"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text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"Deu pra ver no treino que o ritmo tá bom..."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} ] },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"noticia-2"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{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id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"noticia-2"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cat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"Mundo"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title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"Cidades discutem soluções..."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icon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"🌐"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rating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F59E0B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section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"mundo"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comments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[ {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user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"@UrbanistaVerde"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stars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"★★☆☆☆"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37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text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1237">
                <a:solidFill>
                  <a:srgbClr val="A3E635"/>
                </a:solidFill>
                <a:latin typeface="Arimo"/>
                <a:ea typeface="Arimo"/>
                <a:cs typeface="Arimo"/>
                <a:sym typeface="Arimo"/>
              </a:rPr>
              <a:t>"Faltou aprofundar sobre transporte..."</a:t>
            </a:r>
            <a:r>
              <a:rPr lang="en-US" sz="123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} ] } };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00288" y="3671888"/>
            <a:ext cx="3250406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database.js — newsDatabase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24224" y="3724275"/>
            <a:ext cx="6663776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Objeto JavaScript Constante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24224" y="4081462"/>
            <a:ext cx="5606501" cy="57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Usamos const newsDatabase = {} para criar uma estrutura de dados local fixa.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624224" y="5324475"/>
            <a:ext cx="6663776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Chaves e Atributos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624224" y="5681662"/>
            <a:ext cx="56065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Cada notícia possui um ID único, categoria, título e uma nota (rating).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624224" y="6910388"/>
            <a:ext cx="6663776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Arrays de Comentários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624224" y="7267575"/>
            <a:ext cx="56065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Dentro de cada notícia, há uma lista de avaliações de usuários simulados.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85825" y="1943100"/>
            <a:ext cx="5391074" cy="1743075"/>
            <a:chOff x="0" y="0"/>
            <a:chExt cx="7188098" cy="2324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88200" cy="2324100"/>
            </a:xfrm>
            <a:custGeom>
              <a:avLst/>
              <a:gdLst/>
              <a:ahLst/>
              <a:cxnLst/>
              <a:rect l="l" t="t" r="r" b="b"/>
              <a:pathLst>
                <a:path w="7188200" h="2324100">
                  <a:moveTo>
                    <a:pt x="0" y="157607"/>
                  </a:moveTo>
                  <a:cubicBezTo>
                    <a:pt x="0" y="70485"/>
                    <a:pt x="70485" y="0"/>
                    <a:pt x="157607" y="0"/>
                  </a:cubicBezTo>
                  <a:lnTo>
                    <a:pt x="7030593" y="0"/>
                  </a:lnTo>
                  <a:cubicBezTo>
                    <a:pt x="7117588" y="0"/>
                    <a:pt x="7188200" y="70485"/>
                    <a:pt x="7188200" y="157607"/>
                  </a:cubicBezTo>
                  <a:lnTo>
                    <a:pt x="7188200" y="2166493"/>
                  </a:lnTo>
                  <a:cubicBezTo>
                    <a:pt x="7188200" y="2253488"/>
                    <a:pt x="7117715" y="2324100"/>
                    <a:pt x="7030593" y="2324100"/>
                  </a:cubicBezTo>
                  <a:lnTo>
                    <a:pt x="157607" y="2324100"/>
                  </a:lnTo>
                  <a:cubicBezTo>
                    <a:pt x="70485" y="2324100"/>
                    <a:pt x="0" y="2253615"/>
                    <a:pt x="0" y="2166493"/>
                  </a:cubicBezTo>
                  <a:close/>
                </a:path>
              </a:pathLst>
            </a:custGeom>
            <a:solidFill>
              <a:srgbClr val="F8FAFC"/>
            </a:solidFill>
            <a:ln w="57150" cap="sq">
              <a:solidFill>
                <a:srgbClr val="3B82F6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14400" y="3643312"/>
            <a:ext cx="5333924" cy="14288"/>
            <a:chOff x="0" y="0"/>
            <a:chExt cx="7111898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11873" cy="19050"/>
            </a:xfrm>
            <a:custGeom>
              <a:avLst/>
              <a:gdLst/>
              <a:ahLst/>
              <a:cxnLst/>
              <a:rect l="l" t="t" r="r" b="b"/>
              <a:pathLst>
                <a:path w="7111873" h="19050">
                  <a:moveTo>
                    <a:pt x="0" y="0"/>
                  </a:moveTo>
                  <a:lnTo>
                    <a:pt x="7111873" y="0"/>
                  </a:lnTo>
                  <a:lnTo>
                    <a:pt x="71118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1971675"/>
            <a:ext cx="5333924" cy="57150"/>
            <a:chOff x="0" y="0"/>
            <a:chExt cx="7111898" cy="76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11873" cy="76200"/>
            </a:xfrm>
            <a:custGeom>
              <a:avLst/>
              <a:gdLst/>
              <a:ahLst/>
              <a:cxnLst/>
              <a:rect l="l" t="t" r="r" b="b"/>
              <a:pathLst>
                <a:path w="7111873" h="76200">
                  <a:moveTo>
                    <a:pt x="0" y="0"/>
                  </a:moveTo>
                  <a:lnTo>
                    <a:pt x="7111873" y="0"/>
                  </a:lnTo>
                  <a:lnTo>
                    <a:pt x="71118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4400" y="1971675"/>
            <a:ext cx="14288" cy="1685925"/>
            <a:chOff x="0" y="0"/>
            <a:chExt cx="19050" cy="22479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050" cy="2247900"/>
            </a:xfrm>
            <a:custGeom>
              <a:avLst/>
              <a:gdLst/>
              <a:ahLst/>
              <a:cxnLst/>
              <a:rect l="l" t="t" r="r" b="b"/>
              <a:pathLst>
                <a:path w="19050" h="2247900">
                  <a:moveTo>
                    <a:pt x="0" y="0"/>
                  </a:moveTo>
                  <a:lnTo>
                    <a:pt x="19050" y="0"/>
                  </a:lnTo>
                  <a:lnTo>
                    <a:pt x="1905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234036" y="1971675"/>
            <a:ext cx="14288" cy="1685925"/>
            <a:chOff x="0" y="0"/>
            <a:chExt cx="19050" cy="2247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050" cy="2247900"/>
            </a:xfrm>
            <a:custGeom>
              <a:avLst/>
              <a:gdLst/>
              <a:ahLst/>
              <a:cxnLst/>
              <a:rect l="l" t="t" r="r" b="b"/>
              <a:pathLst>
                <a:path w="19050" h="2247900">
                  <a:moveTo>
                    <a:pt x="0" y="0"/>
                  </a:moveTo>
                  <a:lnTo>
                    <a:pt x="19050" y="0"/>
                  </a:lnTo>
                  <a:lnTo>
                    <a:pt x="1905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448349" y="1943100"/>
            <a:ext cx="5391074" cy="1743075"/>
            <a:chOff x="0" y="0"/>
            <a:chExt cx="7188098" cy="23241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88200" cy="2324100"/>
            </a:xfrm>
            <a:custGeom>
              <a:avLst/>
              <a:gdLst/>
              <a:ahLst/>
              <a:cxnLst/>
              <a:rect l="l" t="t" r="r" b="b"/>
              <a:pathLst>
                <a:path w="7188200" h="2324100">
                  <a:moveTo>
                    <a:pt x="0" y="157607"/>
                  </a:moveTo>
                  <a:cubicBezTo>
                    <a:pt x="0" y="70485"/>
                    <a:pt x="70485" y="0"/>
                    <a:pt x="157607" y="0"/>
                  </a:cubicBezTo>
                  <a:lnTo>
                    <a:pt x="7030593" y="0"/>
                  </a:lnTo>
                  <a:cubicBezTo>
                    <a:pt x="7117588" y="0"/>
                    <a:pt x="7188200" y="70485"/>
                    <a:pt x="7188200" y="157607"/>
                  </a:cubicBezTo>
                  <a:lnTo>
                    <a:pt x="7188200" y="2166493"/>
                  </a:lnTo>
                  <a:cubicBezTo>
                    <a:pt x="7188200" y="2253488"/>
                    <a:pt x="7117715" y="2324100"/>
                    <a:pt x="7030593" y="2324100"/>
                  </a:cubicBezTo>
                  <a:lnTo>
                    <a:pt x="157607" y="2324100"/>
                  </a:lnTo>
                  <a:cubicBezTo>
                    <a:pt x="70485" y="2324100"/>
                    <a:pt x="0" y="2253615"/>
                    <a:pt x="0" y="2166493"/>
                  </a:cubicBezTo>
                  <a:close/>
                </a:path>
              </a:pathLst>
            </a:custGeom>
            <a:solidFill>
              <a:srgbClr val="F8FAFC"/>
            </a:solidFill>
            <a:ln w="571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476924" y="3643312"/>
            <a:ext cx="5333924" cy="14288"/>
            <a:chOff x="0" y="0"/>
            <a:chExt cx="7111898" cy="190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111873" cy="19050"/>
            </a:xfrm>
            <a:custGeom>
              <a:avLst/>
              <a:gdLst/>
              <a:ahLst/>
              <a:cxnLst/>
              <a:rect l="l" t="t" r="r" b="b"/>
              <a:pathLst>
                <a:path w="7111873" h="19050">
                  <a:moveTo>
                    <a:pt x="0" y="0"/>
                  </a:moveTo>
                  <a:lnTo>
                    <a:pt x="7111873" y="0"/>
                  </a:lnTo>
                  <a:lnTo>
                    <a:pt x="71118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6476924" y="1971675"/>
            <a:ext cx="5333924" cy="57150"/>
            <a:chOff x="0" y="0"/>
            <a:chExt cx="7111898" cy="76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11873" cy="76200"/>
            </a:xfrm>
            <a:custGeom>
              <a:avLst/>
              <a:gdLst/>
              <a:ahLst/>
              <a:cxnLst/>
              <a:rect l="l" t="t" r="r" b="b"/>
              <a:pathLst>
                <a:path w="7111873" h="76200">
                  <a:moveTo>
                    <a:pt x="0" y="0"/>
                  </a:moveTo>
                  <a:lnTo>
                    <a:pt x="7111873" y="0"/>
                  </a:lnTo>
                  <a:lnTo>
                    <a:pt x="71118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476924" y="1971675"/>
            <a:ext cx="14288" cy="1685925"/>
            <a:chOff x="0" y="0"/>
            <a:chExt cx="19050" cy="22479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50" cy="2247900"/>
            </a:xfrm>
            <a:custGeom>
              <a:avLst/>
              <a:gdLst/>
              <a:ahLst/>
              <a:cxnLst/>
              <a:rect l="l" t="t" r="r" b="b"/>
              <a:pathLst>
                <a:path w="19050" h="2247900">
                  <a:moveTo>
                    <a:pt x="0" y="0"/>
                  </a:moveTo>
                  <a:lnTo>
                    <a:pt x="19050" y="0"/>
                  </a:lnTo>
                  <a:lnTo>
                    <a:pt x="1905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796560" y="1971675"/>
            <a:ext cx="14288" cy="1685925"/>
            <a:chOff x="0" y="0"/>
            <a:chExt cx="19050" cy="22479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050" cy="2247900"/>
            </a:xfrm>
            <a:custGeom>
              <a:avLst/>
              <a:gdLst/>
              <a:ahLst/>
              <a:cxnLst/>
              <a:rect l="l" t="t" r="r" b="b"/>
              <a:pathLst>
                <a:path w="19050" h="2247900">
                  <a:moveTo>
                    <a:pt x="0" y="0"/>
                  </a:moveTo>
                  <a:lnTo>
                    <a:pt x="19050" y="0"/>
                  </a:lnTo>
                  <a:lnTo>
                    <a:pt x="1905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2010873" y="1943100"/>
            <a:ext cx="5391074" cy="1743075"/>
            <a:chOff x="0" y="0"/>
            <a:chExt cx="7188098" cy="23241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88200" cy="2324100"/>
            </a:xfrm>
            <a:custGeom>
              <a:avLst/>
              <a:gdLst/>
              <a:ahLst/>
              <a:cxnLst/>
              <a:rect l="l" t="t" r="r" b="b"/>
              <a:pathLst>
                <a:path w="7188200" h="2324100">
                  <a:moveTo>
                    <a:pt x="0" y="157607"/>
                  </a:moveTo>
                  <a:cubicBezTo>
                    <a:pt x="0" y="70485"/>
                    <a:pt x="70485" y="0"/>
                    <a:pt x="157607" y="0"/>
                  </a:cubicBezTo>
                  <a:lnTo>
                    <a:pt x="7030593" y="0"/>
                  </a:lnTo>
                  <a:cubicBezTo>
                    <a:pt x="7117588" y="0"/>
                    <a:pt x="7188200" y="70485"/>
                    <a:pt x="7188200" y="157607"/>
                  </a:cubicBezTo>
                  <a:lnTo>
                    <a:pt x="7188200" y="2166493"/>
                  </a:lnTo>
                  <a:cubicBezTo>
                    <a:pt x="7188200" y="2253488"/>
                    <a:pt x="7117715" y="2324100"/>
                    <a:pt x="7030593" y="2324100"/>
                  </a:cubicBezTo>
                  <a:lnTo>
                    <a:pt x="157607" y="2324100"/>
                  </a:lnTo>
                  <a:cubicBezTo>
                    <a:pt x="70485" y="2324100"/>
                    <a:pt x="0" y="2253615"/>
                    <a:pt x="0" y="2166493"/>
                  </a:cubicBezTo>
                  <a:close/>
                </a:path>
              </a:pathLst>
            </a:custGeom>
            <a:solidFill>
              <a:srgbClr val="F8FAFC"/>
            </a:solidFill>
            <a:ln w="57150" cap="sq">
              <a:solidFill>
                <a:srgbClr val="10B981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12039448" y="3643312"/>
            <a:ext cx="5333924" cy="14288"/>
            <a:chOff x="0" y="0"/>
            <a:chExt cx="7111898" cy="19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11873" cy="19050"/>
            </a:xfrm>
            <a:custGeom>
              <a:avLst/>
              <a:gdLst/>
              <a:ahLst/>
              <a:cxnLst/>
              <a:rect l="l" t="t" r="r" b="b"/>
              <a:pathLst>
                <a:path w="7111873" h="19050">
                  <a:moveTo>
                    <a:pt x="0" y="0"/>
                  </a:moveTo>
                  <a:lnTo>
                    <a:pt x="7111873" y="0"/>
                  </a:lnTo>
                  <a:lnTo>
                    <a:pt x="711187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039448" y="1971675"/>
            <a:ext cx="5333924" cy="57150"/>
            <a:chOff x="0" y="0"/>
            <a:chExt cx="7111898" cy="76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11873" cy="76200"/>
            </a:xfrm>
            <a:custGeom>
              <a:avLst/>
              <a:gdLst/>
              <a:ahLst/>
              <a:cxnLst/>
              <a:rect l="l" t="t" r="r" b="b"/>
              <a:pathLst>
                <a:path w="7111873" h="76200">
                  <a:moveTo>
                    <a:pt x="0" y="0"/>
                  </a:moveTo>
                  <a:lnTo>
                    <a:pt x="7111873" y="0"/>
                  </a:lnTo>
                  <a:lnTo>
                    <a:pt x="71118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039448" y="1971675"/>
            <a:ext cx="14288" cy="1685925"/>
            <a:chOff x="0" y="0"/>
            <a:chExt cx="19050" cy="22479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9050" cy="2247900"/>
            </a:xfrm>
            <a:custGeom>
              <a:avLst/>
              <a:gdLst/>
              <a:ahLst/>
              <a:cxnLst/>
              <a:rect l="l" t="t" r="r" b="b"/>
              <a:pathLst>
                <a:path w="19050" h="2247900">
                  <a:moveTo>
                    <a:pt x="0" y="0"/>
                  </a:moveTo>
                  <a:lnTo>
                    <a:pt x="19050" y="0"/>
                  </a:lnTo>
                  <a:lnTo>
                    <a:pt x="1905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7359093" y="1971675"/>
            <a:ext cx="14288" cy="1685925"/>
            <a:chOff x="0" y="0"/>
            <a:chExt cx="19050" cy="22479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050" cy="2247900"/>
            </a:xfrm>
            <a:custGeom>
              <a:avLst/>
              <a:gdLst/>
              <a:ahLst/>
              <a:cxnLst/>
              <a:rect l="l" t="t" r="r" b="b"/>
              <a:pathLst>
                <a:path w="19050" h="2247900">
                  <a:moveTo>
                    <a:pt x="0" y="0"/>
                  </a:moveTo>
                  <a:lnTo>
                    <a:pt x="19050" y="0"/>
                  </a:lnTo>
                  <a:lnTo>
                    <a:pt x="19050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907256" y="5507831"/>
            <a:ext cx="8072438" cy="1700212"/>
            <a:chOff x="0" y="0"/>
            <a:chExt cx="10763250" cy="226695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763250" cy="2266950"/>
            </a:xfrm>
            <a:custGeom>
              <a:avLst/>
              <a:gdLst/>
              <a:ahLst/>
              <a:cxnLst/>
              <a:rect l="l" t="t" r="r" b="b"/>
              <a:pathLst>
                <a:path w="10763250" h="2266950">
                  <a:moveTo>
                    <a:pt x="0" y="230505"/>
                  </a:moveTo>
                  <a:cubicBezTo>
                    <a:pt x="0" y="103251"/>
                    <a:pt x="103251" y="0"/>
                    <a:pt x="230505" y="0"/>
                  </a:cubicBezTo>
                  <a:lnTo>
                    <a:pt x="10532745" y="0"/>
                  </a:lnTo>
                  <a:cubicBezTo>
                    <a:pt x="10659999" y="0"/>
                    <a:pt x="10763250" y="103251"/>
                    <a:pt x="10763250" y="230505"/>
                  </a:cubicBezTo>
                  <a:lnTo>
                    <a:pt x="10763250" y="2036445"/>
                  </a:lnTo>
                  <a:cubicBezTo>
                    <a:pt x="10763250" y="2163699"/>
                    <a:pt x="10659999" y="2266950"/>
                    <a:pt x="10532745" y="2266950"/>
                  </a:cubicBezTo>
                  <a:lnTo>
                    <a:pt x="230505" y="2266950"/>
                  </a:lnTo>
                  <a:cubicBezTo>
                    <a:pt x="103251" y="2266950"/>
                    <a:pt x="0" y="2163699"/>
                    <a:pt x="0" y="2036445"/>
                  </a:cubicBezTo>
                  <a:close/>
                </a:path>
              </a:pathLst>
            </a:custGeom>
            <a:solidFill>
              <a:srgbClr val="FEF2F2"/>
            </a:solidFill>
            <a:ln w="14288" cap="sq">
              <a:solidFill>
                <a:srgbClr val="FECACA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9308306" y="5507831"/>
            <a:ext cx="8072438" cy="1700212"/>
            <a:chOff x="0" y="0"/>
            <a:chExt cx="10763250" cy="22669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763250" cy="2266950"/>
            </a:xfrm>
            <a:custGeom>
              <a:avLst/>
              <a:gdLst/>
              <a:ahLst/>
              <a:cxnLst/>
              <a:rect l="l" t="t" r="r" b="b"/>
              <a:pathLst>
                <a:path w="10763250" h="2266950">
                  <a:moveTo>
                    <a:pt x="0" y="230505"/>
                  </a:moveTo>
                  <a:cubicBezTo>
                    <a:pt x="0" y="103251"/>
                    <a:pt x="103251" y="0"/>
                    <a:pt x="230505" y="0"/>
                  </a:cubicBezTo>
                  <a:lnTo>
                    <a:pt x="10532745" y="0"/>
                  </a:lnTo>
                  <a:cubicBezTo>
                    <a:pt x="10659999" y="0"/>
                    <a:pt x="10763250" y="103251"/>
                    <a:pt x="10763250" y="230505"/>
                  </a:cubicBezTo>
                  <a:lnTo>
                    <a:pt x="10763250" y="2036445"/>
                  </a:lnTo>
                  <a:cubicBezTo>
                    <a:pt x="10763250" y="2163699"/>
                    <a:pt x="10659999" y="2266950"/>
                    <a:pt x="10532745" y="2266950"/>
                  </a:cubicBezTo>
                  <a:lnTo>
                    <a:pt x="230505" y="2266950"/>
                  </a:lnTo>
                  <a:cubicBezTo>
                    <a:pt x="103251" y="2266950"/>
                    <a:pt x="0" y="2163699"/>
                    <a:pt x="0" y="2036445"/>
                  </a:cubicBezTo>
                  <a:close/>
                </a:path>
              </a:pathLst>
            </a:custGeom>
            <a:solidFill>
              <a:srgbClr val="F0FDF4"/>
            </a:solidFill>
            <a:ln w="14288" cap="sq">
              <a:solidFill>
                <a:srgbClr val="BBF7D0"/>
              </a:solidFill>
              <a:prstDash val="solid"/>
              <a:miter/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914400" y="676275"/>
            <a:ext cx="173736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5. METODOLOGIA DE TRABALHO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14400" y="1028700"/>
            <a:ext cx="173736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Como Trabalhamos: Sprints &amp; GitHub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00150" y="2238375"/>
            <a:ext cx="490529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Sprint 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62674" y="2238375"/>
            <a:ext cx="490529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D97706"/>
                </a:solidFill>
                <a:latin typeface="Arimo Bold"/>
                <a:ea typeface="Arimo Bold"/>
                <a:cs typeface="Arimo Bold"/>
                <a:sym typeface="Arimo Bold"/>
              </a:rPr>
              <a:t>Sprint 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25198" y="2238375"/>
            <a:ext cx="490529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>
                <a:solidFill>
                  <a:srgbClr val="059669"/>
                </a:solidFill>
                <a:latin typeface="Arimo Bold"/>
                <a:ea typeface="Arimo Bold"/>
                <a:cs typeface="Arimo Bold"/>
                <a:sym typeface="Arimo Bold"/>
              </a:rPr>
              <a:t>Sprint 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14438" y="2690813"/>
            <a:ext cx="621317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Prototipagem &amp; Layout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14438" y="3090863"/>
            <a:ext cx="591731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Criação da identidade visual e wireframe no Figma.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76961" y="2690813"/>
            <a:ext cx="6213177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Replanejamento Mobile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76961" y="3090863"/>
            <a:ext cx="591731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Ajustes de responsividade para telas pequenas.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339485" y="2690813"/>
            <a:ext cx="594851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 b="1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Testes &amp; Publicação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39485" y="3090863"/>
            <a:ext cx="5917311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Deploy no GitHub Pages e documentação técnica.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71588" y="5862637"/>
            <a:ext cx="917971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MAIOR DIFICULDADE ENCONTRADA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71588" y="6224588"/>
            <a:ext cx="7486650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Foi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conseguir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fazer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o site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funcionar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em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dispositivos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móveis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corretamente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sendo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nosso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maior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problema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os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banners e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caixas</a:t>
            </a:r>
            <a:r>
              <a:rPr lang="en-US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1" dirty="0" err="1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flexiveis</a:t>
            </a:r>
            <a:r>
              <a:rPr lang="en-US" sz="1800" b="1" dirty="0" smtClean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  <a:endParaRPr lang="en-US" sz="1800" b="1" dirty="0">
              <a:solidFill>
                <a:srgbClr val="1E293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9672638" y="5862637"/>
            <a:ext cx="8615362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COMO RESOLVEMOS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597867" y="6224587"/>
            <a:ext cx="7486650" cy="546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0"/>
              </a:lnSpc>
            </a:pPr>
            <a:r>
              <a:rPr lang="pt-BR" b="1" dirty="0">
                <a:solidFill>
                  <a:srgbClr val="1E293B"/>
                </a:solidFill>
                <a:latin typeface="Arimo Bold"/>
                <a:ea typeface="Arimo Bold"/>
                <a:cs typeface="Arimo Bold"/>
                <a:sym typeface="Arimo Bold"/>
              </a:rPr>
              <a:t>Reestruturámos os banners e elementos flexíveis para garantir uma navegação fluida e responsiva em dispositivos móveis.</a:t>
            </a:r>
            <a:endParaRPr lang="en-US" sz="1800" b="1" dirty="0">
              <a:solidFill>
                <a:srgbClr val="1E293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7256" y="1964531"/>
            <a:ext cx="16473488" cy="1400175"/>
            <a:chOff x="0" y="0"/>
            <a:chExt cx="21964650" cy="1866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64650" cy="1866900"/>
            </a:xfrm>
            <a:custGeom>
              <a:avLst/>
              <a:gdLst/>
              <a:ahLst/>
              <a:cxnLst/>
              <a:rect l="l" t="t" r="r" b="b"/>
              <a:pathLst>
                <a:path w="21964650" h="1866900">
                  <a:moveTo>
                    <a:pt x="0" y="192405"/>
                  </a:moveTo>
                  <a:cubicBezTo>
                    <a:pt x="0" y="86106"/>
                    <a:pt x="86106" y="0"/>
                    <a:pt x="192405" y="0"/>
                  </a:cubicBezTo>
                  <a:lnTo>
                    <a:pt x="21772245" y="0"/>
                  </a:lnTo>
                  <a:cubicBezTo>
                    <a:pt x="21878544" y="0"/>
                    <a:pt x="21964650" y="86106"/>
                    <a:pt x="21964650" y="192405"/>
                  </a:cubicBezTo>
                  <a:lnTo>
                    <a:pt x="21964650" y="1674495"/>
                  </a:lnTo>
                  <a:cubicBezTo>
                    <a:pt x="21964650" y="1780794"/>
                    <a:pt x="21878544" y="1866900"/>
                    <a:pt x="21772245" y="1866900"/>
                  </a:cubicBezTo>
                  <a:lnTo>
                    <a:pt x="192405" y="1866900"/>
                  </a:lnTo>
                  <a:cubicBezTo>
                    <a:pt x="86106" y="1866900"/>
                    <a:pt x="0" y="1780794"/>
                    <a:pt x="0" y="1674495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94A3B8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14400" y="8543925"/>
            <a:ext cx="16459200" cy="1057275"/>
            <a:chOff x="0" y="0"/>
            <a:chExt cx="21945600" cy="1409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409700"/>
            </a:xfrm>
            <a:custGeom>
              <a:avLst/>
              <a:gdLst/>
              <a:ahLst/>
              <a:cxnLst/>
              <a:rect l="l" t="t" r="r" b="b"/>
              <a:pathLst>
                <a:path w="21945600" h="1409700">
                  <a:moveTo>
                    <a:pt x="0" y="0"/>
                  </a:moveTo>
                  <a:lnTo>
                    <a:pt x="21945600" y="0"/>
                  </a:lnTo>
                  <a:lnTo>
                    <a:pt x="21945600" y="1409700"/>
                  </a:lnTo>
                  <a:lnTo>
                    <a:pt x="0" y="1409700"/>
                  </a:lnTo>
                  <a:close/>
                </a:path>
              </a:pathLst>
            </a:custGeom>
            <a:solidFill>
              <a:srgbClr val="F8FAF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07256" y="5093494"/>
            <a:ext cx="8072438" cy="1771650"/>
            <a:chOff x="0" y="0"/>
            <a:chExt cx="10763250" cy="2362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63250" cy="2362200"/>
            </a:xfrm>
            <a:custGeom>
              <a:avLst/>
              <a:gdLst/>
              <a:ahLst/>
              <a:cxnLst/>
              <a:rect l="l" t="t" r="r" b="b"/>
              <a:pathLst>
                <a:path w="10763250" h="236220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10532745" y="0"/>
                  </a:lnTo>
                  <a:cubicBezTo>
                    <a:pt x="10659999" y="0"/>
                    <a:pt x="10763250" y="103124"/>
                    <a:pt x="10763250" y="230505"/>
                  </a:cubicBezTo>
                  <a:lnTo>
                    <a:pt x="10763250" y="2131695"/>
                  </a:lnTo>
                  <a:cubicBezTo>
                    <a:pt x="10763250" y="2258949"/>
                    <a:pt x="10660126" y="2362200"/>
                    <a:pt x="10532745" y="2362200"/>
                  </a:cubicBezTo>
                  <a:lnTo>
                    <a:pt x="230505" y="2362200"/>
                  </a:lnTo>
                  <a:cubicBezTo>
                    <a:pt x="103124" y="2362200"/>
                    <a:pt x="0" y="2259076"/>
                    <a:pt x="0" y="2131695"/>
                  </a:cubicBezTo>
                  <a:close/>
                </a:path>
              </a:pathLst>
            </a:custGeom>
            <a:solidFill>
              <a:srgbClr val="F0FDF4"/>
            </a:solidFill>
            <a:ln w="14288" cap="sq">
              <a:solidFill>
                <a:srgbClr val="BBF7D0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308306" y="5093494"/>
            <a:ext cx="8072438" cy="1771650"/>
            <a:chOff x="0" y="0"/>
            <a:chExt cx="10763250" cy="2362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63250" cy="2362200"/>
            </a:xfrm>
            <a:custGeom>
              <a:avLst/>
              <a:gdLst/>
              <a:ahLst/>
              <a:cxnLst/>
              <a:rect l="l" t="t" r="r" b="b"/>
              <a:pathLst>
                <a:path w="10763250" h="2362200">
                  <a:moveTo>
                    <a:pt x="0" y="230505"/>
                  </a:moveTo>
                  <a:cubicBezTo>
                    <a:pt x="0" y="103124"/>
                    <a:pt x="103124" y="0"/>
                    <a:pt x="230505" y="0"/>
                  </a:cubicBezTo>
                  <a:lnTo>
                    <a:pt x="10532745" y="0"/>
                  </a:lnTo>
                  <a:cubicBezTo>
                    <a:pt x="10659999" y="0"/>
                    <a:pt x="10763250" y="103124"/>
                    <a:pt x="10763250" y="230505"/>
                  </a:cubicBezTo>
                  <a:lnTo>
                    <a:pt x="10763250" y="2131695"/>
                  </a:lnTo>
                  <a:cubicBezTo>
                    <a:pt x="10763250" y="2258949"/>
                    <a:pt x="10660126" y="2362200"/>
                    <a:pt x="10532745" y="2362200"/>
                  </a:cubicBezTo>
                  <a:lnTo>
                    <a:pt x="230505" y="2362200"/>
                  </a:lnTo>
                  <a:cubicBezTo>
                    <a:pt x="103124" y="2362200"/>
                    <a:pt x="0" y="2259076"/>
                    <a:pt x="0" y="2131695"/>
                  </a:cubicBezTo>
                  <a:close/>
                </a:path>
              </a:pathLst>
            </a:custGeom>
            <a:solidFill>
              <a:srgbClr val="FEF2F2"/>
            </a:solidFill>
            <a:ln w="14288" cap="sq">
              <a:solidFill>
                <a:srgbClr val="FECAC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914400" y="8543925"/>
            <a:ext cx="57150" cy="1057275"/>
            <a:chOff x="0" y="0"/>
            <a:chExt cx="76200" cy="14097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200" cy="1409700"/>
            </a:xfrm>
            <a:custGeom>
              <a:avLst/>
              <a:gdLst/>
              <a:ahLst/>
              <a:cxnLst/>
              <a:rect l="l" t="t" r="r" b="b"/>
              <a:pathLst>
                <a:path w="76200" h="1409700">
                  <a:moveTo>
                    <a:pt x="0" y="0"/>
                  </a:moveTo>
                  <a:lnTo>
                    <a:pt x="76200" y="0"/>
                  </a:lnTo>
                  <a:lnTo>
                    <a:pt x="76200" y="1409700"/>
                  </a:lnTo>
                  <a:lnTo>
                    <a:pt x="0" y="1409700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71588" y="5493544"/>
            <a:ext cx="257175" cy="257175"/>
            <a:chOff x="0" y="0"/>
            <a:chExt cx="342900" cy="3429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77" b="-277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9672638" y="5493544"/>
            <a:ext cx="257175" cy="257175"/>
            <a:chOff x="0" y="0"/>
            <a:chExt cx="342900" cy="3429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77" b="-277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914400" y="676275"/>
            <a:ext cx="173736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6. USO RESPONSÁVEL DE 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" y="1028700"/>
            <a:ext cx="173736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Bastidores: Como Usamos Inteligência Artificial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1588" y="2224088"/>
            <a:ext cx="17016412" cy="2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dirty="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PROMPT </a:t>
            </a:r>
            <a:r>
              <a:rPr lang="en-US" sz="1350" b="1" dirty="0" smtClean="0">
                <a:solidFill>
                  <a:srgbClr val="64748B"/>
                </a:solidFill>
                <a:latin typeface="Arimo Bold"/>
                <a:ea typeface="Arimo Bold"/>
                <a:cs typeface="Arimo Bold"/>
                <a:sym typeface="Arimo Bold"/>
              </a:rPr>
              <a:t>REAL:</a:t>
            </a:r>
            <a:endParaRPr lang="en-US" sz="1350" b="1" dirty="0">
              <a:solidFill>
                <a:srgbClr val="64748B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71588" y="2505075"/>
            <a:ext cx="15887700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Atue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como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desenvolvedor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front-end.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Crie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uma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estrutura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HTML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semântica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para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um card de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notícia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com tag de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categoria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em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vermelho</a:t>
            </a:r>
            <a:r>
              <a:rPr lang="en-US" sz="1800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800" dirty="0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e um </a:t>
            </a:r>
            <a:r>
              <a:rPr lang="en-US" sz="1800" dirty="0" err="1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sistema</a:t>
            </a:r>
            <a:r>
              <a:rPr lang="en-US" sz="1800" dirty="0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de “</a:t>
            </a:r>
            <a:r>
              <a:rPr lang="en-US" sz="1800" dirty="0" err="1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carrosel</a:t>
            </a:r>
            <a:r>
              <a:rPr lang="en-US" sz="1800" dirty="0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” de </a:t>
            </a:r>
            <a:r>
              <a:rPr lang="en-US" sz="1800" dirty="0" err="1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notícias</a:t>
            </a:r>
            <a:r>
              <a:rPr lang="en-US" sz="1800" dirty="0" smtClean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."</a:t>
            </a:r>
            <a:endParaRPr lang="en-US" sz="1800" dirty="0">
              <a:solidFill>
                <a:srgbClr val="1E293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14450" y="8782050"/>
            <a:ext cx="15859125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 que mudamos e O que aprendemos: Melhorámos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o </a:t>
            </a: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design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do site </a:t>
            </a: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para o ideal e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tivemos </a:t>
            </a: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também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sempre </a:t>
            </a: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que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rever o trabalho da IA, já que ela se </a:t>
            </a: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confundia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ao trabalhar com </a:t>
            </a:r>
            <a:r>
              <a:rPr lang="pt-BR" sz="1687" b="1" dirty="0" smtClean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arquivos </a:t>
            </a:r>
            <a:r>
              <a:rPr lang="pt-BR" sz="1687" b="1" dirty="0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separados.</a:t>
            </a:r>
            <a:endParaRPr lang="en-US" sz="1687" dirty="0">
              <a:solidFill>
                <a:srgbClr val="0F172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71588" y="5938838"/>
            <a:ext cx="748665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166534"/>
                </a:solidFill>
                <a:latin typeface="Arimo Bold"/>
                <a:ea typeface="Arimo Bold"/>
                <a:cs typeface="Arimo Bold"/>
                <a:sym typeface="Arimo Bold"/>
              </a:rPr>
              <a:t>Acelerou a criação da estrutura de marcação semântica e deu ideias para organização das tags de categoria.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72638" y="5938838"/>
            <a:ext cx="7486650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1">
                <a:solidFill>
                  <a:srgbClr val="991B1B"/>
                </a:solidFill>
                <a:latin typeface="Arimo Bold"/>
                <a:ea typeface="Arimo Bold"/>
                <a:cs typeface="Arimo Bold"/>
                <a:sym typeface="Arimo Bold"/>
              </a:rPr>
              <a:t>Gerou CSS com propriedades obsoletas de layout (floats) e quebrou o alinhamento no celular.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43062" y="5448300"/>
            <a:ext cx="2100262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16A34A"/>
                </a:solidFill>
                <a:latin typeface="Arimo Bold"/>
                <a:ea typeface="Arimo Bold"/>
                <a:cs typeface="Arimo Bold"/>
                <a:sym typeface="Arimo Bold"/>
              </a:rPr>
              <a:t>Onde Ajudou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44112" y="5448300"/>
            <a:ext cx="3875484" cy="33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Onde Errou / Atrapalhou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256" y="3736181"/>
            <a:ext cx="7986712" cy="2257425"/>
            <a:chOff x="0" y="0"/>
            <a:chExt cx="10648950" cy="3009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48950" cy="3009900"/>
            </a:xfrm>
            <a:custGeom>
              <a:avLst/>
              <a:gdLst/>
              <a:ahLst/>
              <a:cxnLst/>
              <a:rect l="l" t="t" r="r" b="b"/>
              <a:pathLst>
                <a:path w="10648950" h="3009900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10418953" y="0"/>
                  </a:lnTo>
                  <a:cubicBezTo>
                    <a:pt x="10545953" y="0"/>
                    <a:pt x="10648950" y="102997"/>
                    <a:pt x="10648950" y="229997"/>
                  </a:cubicBezTo>
                  <a:lnTo>
                    <a:pt x="10648950" y="2779903"/>
                  </a:lnTo>
                  <a:cubicBezTo>
                    <a:pt x="10648950" y="2906903"/>
                    <a:pt x="10545953" y="3009900"/>
                    <a:pt x="10418953" y="3009900"/>
                  </a:cubicBezTo>
                  <a:lnTo>
                    <a:pt x="229997" y="3009900"/>
                  </a:lnTo>
                  <a:cubicBezTo>
                    <a:pt x="102997" y="3009900"/>
                    <a:pt x="0" y="2906903"/>
                    <a:pt x="0" y="277990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394031" y="3736181"/>
            <a:ext cx="7986712" cy="2257425"/>
            <a:chOff x="0" y="0"/>
            <a:chExt cx="10648950" cy="3009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48950" cy="3009900"/>
            </a:xfrm>
            <a:custGeom>
              <a:avLst/>
              <a:gdLst/>
              <a:ahLst/>
              <a:cxnLst/>
              <a:rect l="l" t="t" r="r" b="b"/>
              <a:pathLst>
                <a:path w="10648950" h="3009900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10418953" y="0"/>
                  </a:lnTo>
                  <a:cubicBezTo>
                    <a:pt x="10545953" y="0"/>
                    <a:pt x="10648950" y="102997"/>
                    <a:pt x="10648950" y="229997"/>
                  </a:cubicBezTo>
                  <a:lnTo>
                    <a:pt x="10648950" y="2779903"/>
                  </a:lnTo>
                  <a:cubicBezTo>
                    <a:pt x="10648950" y="2906903"/>
                    <a:pt x="10545953" y="3009900"/>
                    <a:pt x="10418953" y="3009900"/>
                  </a:cubicBezTo>
                  <a:lnTo>
                    <a:pt x="229997" y="3009900"/>
                  </a:lnTo>
                  <a:cubicBezTo>
                    <a:pt x="102997" y="3009900"/>
                    <a:pt x="0" y="2906903"/>
                    <a:pt x="0" y="277990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28738" y="4193381"/>
            <a:ext cx="285750" cy="285750"/>
            <a:chOff x="0" y="0"/>
            <a:chExt cx="381000" cy="381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500" b="-2500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9815512" y="4193381"/>
            <a:ext cx="328612" cy="285750"/>
            <a:chOff x="0" y="0"/>
            <a:chExt cx="438150" cy="3810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38150" cy="381000"/>
            </a:xfrm>
            <a:custGeom>
              <a:avLst/>
              <a:gdLst/>
              <a:ahLst/>
              <a:cxnLst/>
              <a:rect l="l" t="t" r="r" b="b"/>
              <a:pathLst>
                <a:path w="438150" h="38100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00" b="-250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14400" y="676275"/>
            <a:ext cx="17373600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7. CONCLUSÃO &amp; FUTURO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1028700"/>
            <a:ext cx="1737360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600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 Que Muda com o RNoticias?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757362" y="4157662"/>
            <a:ext cx="8926116" cy="357188"/>
            <a:chOff x="0" y="0"/>
            <a:chExt cx="11901488" cy="476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901486" cy="476250"/>
            </a:xfrm>
            <a:custGeom>
              <a:avLst/>
              <a:gdLst/>
              <a:ahLst/>
              <a:cxnLst/>
              <a:rect l="l" t="t" r="r" b="b"/>
              <a:pathLst>
                <a:path w="11901486" h="476250">
                  <a:moveTo>
                    <a:pt x="0" y="0"/>
                  </a:moveTo>
                  <a:lnTo>
                    <a:pt x="11901486" y="0"/>
                  </a:lnTo>
                  <a:lnTo>
                    <a:pt x="11901486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6931" b="-43693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1901488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Hoje o site já...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328738" y="4724400"/>
            <a:ext cx="8929688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• Entrega notícias locais com foco total na informação.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8738" y="5253038"/>
            <a:ext cx="8929688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• Carrega instantaneamente mesmo em conexões fracas.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0" y="4157662"/>
            <a:ext cx="8001000" cy="357188"/>
            <a:chOff x="0" y="0"/>
            <a:chExt cx="10668000" cy="4762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68000" cy="476250"/>
            </a:xfrm>
            <a:custGeom>
              <a:avLst/>
              <a:gdLst/>
              <a:ahLst/>
              <a:cxnLst/>
              <a:rect l="l" t="t" r="r" b="b"/>
              <a:pathLst>
                <a:path w="10668000" h="476250">
                  <a:moveTo>
                    <a:pt x="0" y="0"/>
                  </a:moveTo>
                  <a:lnTo>
                    <a:pt x="10668000" y="0"/>
                  </a:lnTo>
                  <a:lnTo>
                    <a:pt x="1066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6464" b="-38646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668000" cy="495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F172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Próximos Passos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815512" y="4724400"/>
            <a:ext cx="847248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1. </a:t>
            </a:r>
            <a:r>
              <a:rPr lang="en-US" sz="1800" b="1" dirty="0" err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Integração</a:t>
            </a:r>
            <a:r>
              <a:rPr lang="en-US" sz="1800" b="1" dirty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com </a:t>
            </a:r>
            <a:r>
              <a:rPr lang="en-US" sz="1800" b="1" dirty="0" err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previsão</a:t>
            </a:r>
            <a:r>
              <a:rPr lang="en-US" sz="1800" b="1" dirty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climatica</a:t>
            </a:r>
            <a:r>
              <a:rPr lang="en-US" sz="1800" b="1" dirty="0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  <a:endParaRPr lang="en-US" sz="1800" b="1" dirty="0">
              <a:solidFill>
                <a:srgbClr val="334155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15512" y="5253038"/>
            <a:ext cx="847248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 dirty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2. </a:t>
            </a:r>
            <a:r>
              <a:rPr lang="en-US" sz="1800" b="1" dirty="0" err="1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Painel</a:t>
            </a:r>
            <a:r>
              <a:rPr lang="en-US" sz="1800" b="1" dirty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para</a:t>
            </a:r>
            <a:r>
              <a:rPr lang="en-US" sz="1800" b="1" dirty="0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colaboradores</a:t>
            </a:r>
            <a:r>
              <a:rPr lang="en-US" sz="1800" b="1" dirty="0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e </a:t>
            </a:r>
            <a:r>
              <a:rPr lang="en-US" sz="1800" b="1" dirty="0" err="1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espaço</a:t>
            </a:r>
            <a:r>
              <a:rPr lang="en-US" sz="1800" b="1" dirty="0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para</a:t>
            </a:r>
            <a:r>
              <a:rPr lang="en-US" sz="1800" b="1" dirty="0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patrocinadores</a:t>
            </a:r>
            <a:r>
              <a:rPr lang="en-US" sz="1800" b="1" dirty="0" smtClean="0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  <a:endParaRPr lang="en-US" sz="1800" b="1" dirty="0">
              <a:solidFill>
                <a:srgbClr val="334155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659100" y="789384"/>
            <a:ext cx="1714500" cy="400050"/>
            <a:chOff x="0" y="0"/>
            <a:chExt cx="2286000" cy="533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000" cy="533400"/>
            </a:xfrm>
            <a:custGeom>
              <a:avLst/>
              <a:gdLst/>
              <a:ahLst/>
              <a:cxnLst/>
              <a:rect l="l" t="t" r="r" b="b"/>
              <a:pathLst>
                <a:path w="2286000" h="5334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171700" y="0"/>
                  </a:lnTo>
                  <a:cubicBezTo>
                    <a:pt x="2234819" y="0"/>
                    <a:pt x="2286000" y="51181"/>
                    <a:pt x="2286000" y="114300"/>
                  </a:cubicBezTo>
                  <a:lnTo>
                    <a:pt x="2286000" y="419100"/>
                  </a:lnTo>
                  <a:cubicBezTo>
                    <a:pt x="2286000" y="482219"/>
                    <a:pt x="2234819" y="533400"/>
                    <a:pt x="2171700" y="533400"/>
                  </a:cubicBezTo>
                  <a:lnTo>
                    <a:pt x="114300" y="533400"/>
                  </a:lnTo>
                  <a:cubicBezTo>
                    <a:pt x="51181" y="533400"/>
                    <a:pt x="0" y="482219"/>
                    <a:pt x="0" y="4191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1635919"/>
            <a:ext cx="16459200" cy="8079581"/>
            <a:chOff x="0" y="0"/>
            <a:chExt cx="21945600" cy="107727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0772775"/>
            </a:xfrm>
            <a:custGeom>
              <a:avLst/>
              <a:gdLst/>
              <a:ahLst/>
              <a:cxnLst/>
              <a:rect l="l" t="t" r="r" b="b"/>
              <a:pathLst>
                <a:path w="21945600" h="10772775">
                  <a:moveTo>
                    <a:pt x="469900" y="0"/>
                  </a:moveTo>
                  <a:lnTo>
                    <a:pt x="21475700" y="0"/>
                  </a:lnTo>
                  <a:cubicBezTo>
                    <a:pt x="21735219" y="0"/>
                    <a:pt x="21945600" y="210381"/>
                    <a:pt x="21945600" y="469900"/>
                  </a:cubicBezTo>
                  <a:lnTo>
                    <a:pt x="21945600" y="10302875"/>
                  </a:lnTo>
                  <a:cubicBezTo>
                    <a:pt x="21945600" y="10562393"/>
                    <a:pt x="21735219" y="10772775"/>
                    <a:pt x="21475700" y="10772775"/>
                  </a:cubicBezTo>
                  <a:lnTo>
                    <a:pt x="469900" y="10772775"/>
                  </a:lnTo>
                  <a:cubicBezTo>
                    <a:pt x="210381" y="10772775"/>
                    <a:pt x="0" y="10562393"/>
                    <a:pt x="0" y="10302875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2"/>
              <a:stretch>
                <a:fillRect t="-1570" b="-157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5830550" y="865584"/>
            <a:ext cx="15144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VISUALIZAÇÃO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61975"/>
            <a:ext cx="7179469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8. O PORTAL NA PRÁTICA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923925"/>
            <a:ext cx="7538437" cy="48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Tela Inicial do Portal RNoticias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029950"/>
            <a:ext cx="18288000" cy="14288"/>
            <a:chOff x="0" y="0"/>
            <a:chExt cx="24384000" cy="190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11958638"/>
            <a:ext cx="18288000" cy="14288"/>
            <a:chOff x="0" y="0"/>
            <a:chExt cx="24384000" cy="19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9050"/>
            </a:xfrm>
            <a:custGeom>
              <a:avLst/>
              <a:gdLst/>
              <a:ahLst/>
              <a:cxnLst/>
              <a:rect l="l" t="t" r="r" b="b"/>
              <a:pathLst>
                <a:path w="24384000" h="19050">
                  <a:moveTo>
                    <a:pt x="0" y="0"/>
                  </a:moveTo>
                  <a:lnTo>
                    <a:pt x="24384000" y="0"/>
                  </a:lnTo>
                  <a:lnTo>
                    <a:pt x="2438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659100" y="789384"/>
            <a:ext cx="1714500" cy="400050"/>
            <a:chOff x="0" y="0"/>
            <a:chExt cx="2286000" cy="533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86000" cy="533400"/>
            </a:xfrm>
            <a:custGeom>
              <a:avLst/>
              <a:gdLst/>
              <a:ahLst/>
              <a:cxnLst/>
              <a:rect l="l" t="t" r="r" b="b"/>
              <a:pathLst>
                <a:path w="2286000" h="533400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2171700" y="0"/>
                  </a:lnTo>
                  <a:cubicBezTo>
                    <a:pt x="2234819" y="0"/>
                    <a:pt x="2286000" y="51181"/>
                    <a:pt x="2286000" y="114300"/>
                  </a:cubicBezTo>
                  <a:lnTo>
                    <a:pt x="2286000" y="419100"/>
                  </a:lnTo>
                  <a:cubicBezTo>
                    <a:pt x="2286000" y="482219"/>
                    <a:pt x="2234819" y="533400"/>
                    <a:pt x="2171700" y="533400"/>
                  </a:cubicBezTo>
                  <a:lnTo>
                    <a:pt x="114300" y="533400"/>
                  </a:lnTo>
                  <a:cubicBezTo>
                    <a:pt x="51181" y="533400"/>
                    <a:pt x="0" y="482219"/>
                    <a:pt x="0" y="419100"/>
                  </a:cubicBez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4400" y="1635919"/>
            <a:ext cx="16459200" cy="8079581"/>
            <a:chOff x="0" y="0"/>
            <a:chExt cx="21945600" cy="107727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0772775"/>
            </a:xfrm>
            <a:custGeom>
              <a:avLst/>
              <a:gdLst/>
              <a:ahLst/>
              <a:cxnLst/>
              <a:rect l="l" t="t" r="r" b="b"/>
              <a:pathLst>
                <a:path w="21945600" h="10772775">
                  <a:moveTo>
                    <a:pt x="469900" y="0"/>
                  </a:moveTo>
                  <a:lnTo>
                    <a:pt x="21475700" y="0"/>
                  </a:lnTo>
                  <a:cubicBezTo>
                    <a:pt x="21735219" y="0"/>
                    <a:pt x="21945600" y="210381"/>
                    <a:pt x="21945600" y="469900"/>
                  </a:cubicBezTo>
                  <a:lnTo>
                    <a:pt x="21945600" y="10302875"/>
                  </a:lnTo>
                  <a:cubicBezTo>
                    <a:pt x="21945600" y="10562393"/>
                    <a:pt x="21735219" y="10772775"/>
                    <a:pt x="21475700" y="10772775"/>
                  </a:cubicBezTo>
                  <a:lnTo>
                    <a:pt x="469900" y="10772775"/>
                  </a:lnTo>
                  <a:cubicBezTo>
                    <a:pt x="210381" y="10772775"/>
                    <a:pt x="0" y="10562393"/>
                    <a:pt x="0" y="10302875"/>
                  </a:cubicBezTo>
                  <a:lnTo>
                    <a:pt x="0" y="469900"/>
                  </a:lnTo>
                  <a:cubicBezTo>
                    <a:pt x="0" y="210381"/>
                    <a:pt x="210381" y="0"/>
                    <a:pt x="469900" y="0"/>
                  </a:cubicBezTo>
                  <a:close/>
                </a:path>
              </a:pathLst>
            </a:custGeom>
            <a:blipFill>
              <a:blip r:embed="rId2"/>
              <a:stretch>
                <a:fillRect l="-69" r="-6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5830550" y="865584"/>
            <a:ext cx="1514475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1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VISUALIZAÇÃO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61975"/>
            <a:ext cx="8161734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1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9. O PORTAL NA PRÁTICA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" y="923925"/>
            <a:ext cx="8569823" cy="48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>
                <a:solidFill>
                  <a:srgbClr val="0F172A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Página de Leitura (Editoria Mundo)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8043862"/>
            <a:ext cx="16459200" cy="1557338"/>
            <a:chOff x="0" y="0"/>
            <a:chExt cx="21945600" cy="20764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076450"/>
            </a:xfrm>
            <a:custGeom>
              <a:avLst/>
              <a:gdLst/>
              <a:ahLst/>
              <a:cxnLst/>
              <a:rect l="l" t="t" r="r" b="b"/>
              <a:pathLst>
                <a:path w="21945600" h="207645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1717000" y="0"/>
                  </a:lnTo>
                  <a:cubicBezTo>
                    <a:pt x="21843237" y="0"/>
                    <a:pt x="21945600" y="102362"/>
                    <a:pt x="21945600" y="228600"/>
                  </a:cubicBezTo>
                  <a:lnTo>
                    <a:pt x="21945600" y="1847850"/>
                  </a:lnTo>
                  <a:cubicBezTo>
                    <a:pt x="21945600" y="1974088"/>
                    <a:pt x="21843237" y="2076450"/>
                    <a:pt x="21717000" y="2076450"/>
                  </a:cubicBezTo>
                  <a:lnTo>
                    <a:pt x="228600" y="2076450"/>
                  </a:lnTo>
                  <a:cubicBezTo>
                    <a:pt x="102362" y="2076450"/>
                    <a:pt x="0" y="1974088"/>
                    <a:pt x="0" y="184785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287375" y="8529638"/>
            <a:ext cx="3571875" cy="585788"/>
            <a:chOff x="0" y="0"/>
            <a:chExt cx="4762500" cy="781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762500" cy="781050"/>
            </a:xfrm>
            <a:custGeom>
              <a:avLst/>
              <a:gdLst/>
              <a:ahLst/>
              <a:cxnLst/>
              <a:rect l="l" t="t" r="r" b="b"/>
              <a:pathLst>
                <a:path w="4762500" h="78105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4610100" y="0"/>
                  </a:lnTo>
                  <a:cubicBezTo>
                    <a:pt x="4694301" y="0"/>
                    <a:pt x="4762500" y="68199"/>
                    <a:pt x="4762500" y="152400"/>
                  </a:cubicBezTo>
                  <a:lnTo>
                    <a:pt x="4762500" y="628650"/>
                  </a:lnTo>
                  <a:cubicBezTo>
                    <a:pt x="4762500" y="712851"/>
                    <a:pt x="4694301" y="781050"/>
                    <a:pt x="4610100" y="781050"/>
                  </a:cubicBezTo>
                  <a:lnTo>
                    <a:pt x="152400" y="781050"/>
                  </a:lnTo>
                  <a:cubicBezTo>
                    <a:pt x="68199" y="781050"/>
                    <a:pt x="0" y="712851"/>
                    <a:pt x="0" y="62865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280195" y="1028700"/>
            <a:ext cx="5727610" cy="5727610"/>
          </a:xfrm>
          <a:custGeom>
            <a:avLst/>
            <a:gdLst/>
            <a:ahLst/>
            <a:cxnLst/>
            <a:rect l="l" t="t" r="r" b="b"/>
            <a:pathLst>
              <a:path w="5727610" h="5727610">
                <a:moveTo>
                  <a:pt x="0" y="0"/>
                </a:moveTo>
                <a:lnTo>
                  <a:pt x="5727610" y="0"/>
                </a:lnTo>
                <a:lnTo>
                  <a:pt x="5727610" y="5727610"/>
                </a:lnTo>
                <a:lnTo>
                  <a:pt x="0" y="572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14300" cap="rnd">
            <a:solidFill>
              <a:srgbClr val="000000"/>
            </a:solidFill>
            <a:prstDash val="solid"/>
            <a:round/>
          </a:ln>
        </p:spPr>
      </p:sp>
      <p:sp>
        <p:nvSpPr>
          <p:cNvPr id="7" name="TextBox 7"/>
          <p:cNvSpPr txBox="1"/>
          <p:nvPr/>
        </p:nvSpPr>
        <p:spPr>
          <a:xfrm>
            <a:off x="1428750" y="8386762"/>
            <a:ext cx="564445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FFFFF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Obrigado!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8750" y="8967788"/>
            <a:ext cx="5375672" cy="290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Site: </a:t>
            </a:r>
            <a:r>
              <a:rPr lang="en-US" sz="1687" b="1">
                <a:solidFill>
                  <a:srgbClr val="94A3B8"/>
                </a:solidFill>
                <a:latin typeface="Arimo Bold"/>
                <a:ea typeface="Arimo Bold"/>
                <a:cs typeface="Arimo Bold"/>
                <a:sym typeface="Arimo Bold"/>
              </a:rPr>
              <a:t>grupo-rnoticias.github.io/rnoticias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30250" y="8653462"/>
            <a:ext cx="3143250" cy="31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Perguntas &amp; Comentários?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819</Words>
  <Application>Microsoft Office PowerPoint</Application>
  <PresentationFormat>Custom</PresentationFormat>
  <Paragraphs>91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JetBrains Mono</vt:lpstr>
      <vt:lpstr>JetBrains Mono Bold</vt:lpstr>
      <vt:lpstr>Merriweather Bold</vt:lpstr>
      <vt:lpstr>Arimo Bold</vt:lpstr>
      <vt:lpstr>Arimo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RNoticias - Apresentação Digital ao Extremo 2026.pptx</dc:title>
  <cp:lastModifiedBy>Windows User</cp:lastModifiedBy>
  <cp:revision>6</cp:revision>
  <dcterms:created xsi:type="dcterms:W3CDTF">2006-08-16T00:00:00Z</dcterms:created>
  <dcterms:modified xsi:type="dcterms:W3CDTF">2026-10-07T03:16:34Z</dcterms:modified>
  <dc:identifier>DAHXR6exSpQ</dc:identifier>
</cp:coreProperties>
</file>