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x="18288000" cy="10287000"/>
  <p:notesSz cx="6858000" cy="9144000"/>
  <p:embeddedFontLst>
    <p:embeddedFont>
      <p:font typeface="Arimo Bold" charset="1" panose="020B0704020202020204"/>
      <p:regular r:id="rId17"/>
    </p:embeddedFont>
    <p:embeddedFont>
      <p:font typeface="Arimo" charset="1" panose="020B0604020202020204"/>
      <p:regular r:id="rId18"/>
    </p:embeddedFont>
    <p:embeddedFont>
      <p:font typeface="Merriweather Bold" charset="1" panose="00000800000000000000"/>
      <p:regular r:id="rId19"/>
    </p:embeddedFont>
    <p:embeddedFont>
      <p:font typeface="JetBrains Mono Bold" charset="1" panose="02010809030102050004"/>
      <p:regular r:id="rId20"/>
    </p:embeddedFont>
    <p:embeddedFont>
      <p:font typeface="JetBrains Mono" charset="1" panose="02010509020102050004"/>
      <p:regular r:id="rId21"/>
    </p:embeddedFont>
    <p:embeddedFont>
      <p:font typeface="Merriweather" charset="1" panose="000005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9.pn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Relationship Id="rId8" Target="../media/image1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png" Type="http://schemas.openxmlformats.org/officeDocument/2006/relationships/image"/><Relationship Id="rId4" Target="../media/image2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8158162"/>
            <a:ext cx="16459200" cy="1328738"/>
            <a:chOff x="0" y="0"/>
            <a:chExt cx="21945600" cy="17716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771650"/>
            </a:xfrm>
            <a:custGeom>
              <a:avLst/>
              <a:gdLst/>
              <a:ahLst/>
              <a:cxnLst/>
              <a:rect r="r" b="b" t="t" l="l"/>
              <a:pathLst>
                <a:path h="177165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771650"/>
                  </a:lnTo>
                  <a:lnTo>
                    <a:pt x="0" y="1771650"/>
                  </a:lnTo>
                  <a:close/>
                </a:path>
              </a:pathLst>
            </a:custGeom>
            <a:solidFill>
              <a:srgbClr val="1E293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565981" y="792956"/>
            <a:ext cx="3814762" cy="471488"/>
            <a:chOff x="0" y="0"/>
            <a:chExt cx="5086350" cy="6286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086350" cy="628650"/>
            </a:xfrm>
            <a:custGeom>
              <a:avLst/>
              <a:gdLst/>
              <a:ahLst/>
              <a:cxnLst/>
              <a:rect r="r" b="b" t="t" l="l"/>
              <a:pathLst>
                <a:path h="628650" w="5086350">
                  <a:moveTo>
                    <a:pt x="0" y="117856"/>
                  </a:moveTo>
                  <a:cubicBezTo>
                    <a:pt x="0" y="52832"/>
                    <a:pt x="52832" y="0"/>
                    <a:pt x="117856" y="0"/>
                  </a:cubicBezTo>
                  <a:lnTo>
                    <a:pt x="4968494" y="0"/>
                  </a:lnTo>
                  <a:cubicBezTo>
                    <a:pt x="5033645" y="0"/>
                    <a:pt x="5086350" y="52832"/>
                    <a:pt x="5086350" y="117856"/>
                  </a:cubicBezTo>
                  <a:lnTo>
                    <a:pt x="5086350" y="510794"/>
                  </a:lnTo>
                  <a:cubicBezTo>
                    <a:pt x="5086350" y="575945"/>
                    <a:pt x="5033518" y="628650"/>
                    <a:pt x="4968494" y="628650"/>
                  </a:cubicBezTo>
                  <a:lnTo>
                    <a:pt x="117856" y="628650"/>
                  </a:lnTo>
                  <a:cubicBezTo>
                    <a:pt x="52832" y="628650"/>
                    <a:pt x="0" y="575818"/>
                    <a:pt x="0" y="510794"/>
                  </a:cubicBezTo>
                  <a:close/>
                </a:path>
              </a:pathLst>
            </a:custGeom>
            <a:solidFill>
              <a:srgbClr val="1E293B"/>
            </a:solidFill>
            <a:ln w="14288" cap="sq">
              <a:solidFill>
                <a:srgbClr val="334155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8158162"/>
            <a:ext cx="57150" cy="1328738"/>
            <a:chOff x="0" y="0"/>
            <a:chExt cx="76200" cy="17716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6200" cy="1771650"/>
            </a:xfrm>
            <a:custGeom>
              <a:avLst/>
              <a:gdLst/>
              <a:ahLst/>
              <a:cxnLst/>
              <a:rect r="r" b="b" t="t" l="l"/>
              <a:pathLst>
                <a:path h="1771650" w="76200">
                  <a:moveTo>
                    <a:pt x="0" y="0"/>
                  </a:moveTo>
                  <a:lnTo>
                    <a:pt x="76200" y="0"/>
                  </a:lnTo>
                  <a:lnTo>
                    <a:pt x="76200" y="1771650"/>
                  </a:lnTo>
                  <a:lnTo>
                    <a:pt x="0" y="1771650"/>
                  </a:ln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857250"/>
            <a:ext cx="1457325" cy="342900"/>
            <a:chOff x="0" y="0"/>
            <a:chExt cx="1943100" cy="457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43100" cy="457200"/>
            </a:xfrm>
            <a:custGeom>
              <a:avLst/>
              <a:gdLst/>
              <a:ahLst/>
              <a:cxnLst/>
              <a:rect r="r" b="b" t="t" l="l"/>
              <a:pathLst>
                <a:path h="457200" w="1943100">
                  <a:moveTo>
                    <a:pt x="0" y="76200"/>
                  </a:moveTo>
                  <a:cubicBezTo>
                    <a:pt x="0" y="34163"/>
                    <a:pt x="34163" y="0"/>
                    <a:pt x="76200" y="0"/>
                  </a:cubicBezTo>
                  <a:lnTo>
                    <a:pt x="1866900" y="0"/>
                  </a:lnTo>
                  <a:cubicBezTo>
                    <a:pt x="1908937" y="0"/>
                    <a:pt x="1943100" y="34163"/>
                    <a:pt x="1943100" y="76200"/>
                  </a:cubicBezTo>
                  <a:lnTo>
                    <a:pt x="1943100" y="381000"/>
                  </a:lnTo>
                  <a:cubicBezTo>
                    <a:pt x="1943100" y="423037"/>
                    <a:pt x="1908937" y="457200"/>
                    <a:pt x="1866900" y="457200"/>
                  </a:cubicBezTo>
                  <a:lnTo>
                    <a:pt x="76200" y="457200"/>
                  </a:lnTo>
                  <a:cubicBezTo>
                    <a:pt x="34163" y="457200"/>
                    <a:pt x="0" y="423037"/>
                    <a:pt x="0" y="381000"/>
                  </a:cubicBez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3970582"/>
            <a:ext cx="742950" cy="742950"/>
            <a:chOff x="0" y="0"/>
            <a:chExt cx="990600" cy="990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90600" cy="990600"/>
            </a:xfrm>
            <a:custGeom>
              <a:avLst/>
              <a:gdLst/>
              <a:ahLst/>
              <a:cxnLst/>
              <a:rect r="r" b="b" t="t" l="l"/>
              <a:pathLst>
                <a:path h="990600" w="9906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838200" y="0"/>
                  </a:lnTo>
                  <a:cubicBezTo>
                    <a:pt x="922401" y="0"/>
                    <a:pt x="990600" y="68199"/>
                    <a:pt x="990600" y="152400"/>
                  </a:cubicBezTo>
                  <a:lnTo>
                    <a:pt x="990600" y="838200"/>
                  </a:lnTo>
                  <a:cubicBezTo>
                    <a:pt x="990600" y="922401"/>
                    <a:pt x="922401" y="990600"/>
                    <a:pt x="838200" y="990600"/>
                  </a:cubicBezTo>
                  <a:lnTo>
                    <a:pt x="152400" y="990600"/>
                  </a:lnTo>
                  <a:cubicBezTo>
                    <a:pt x="68199" y="990600"/>
                    <a:pt x="0" y="922401"/>
                    <a:pt x="0" y="838200"/>
                  </a:cubicBez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085850" y="971550"/>
            <a:ext cx="128588" cy="114300"/>
            <a:chOff x="0" y="0"/>
            <a:chExt cx="171450" cy="152400"/>
          </a:xfrm>
        </p:grpSpPr>
        <p:sp>
          <p:nvSpPr>
            <p:cNvPr name="Freeform 17" id="17" descr="image.png"/>
            <p:cNvSpPr/>
            <p:nvPr/>
          </p:nvSpPr>
          <p:spPr>
            <a:xfrm flipH="false" flipV="false" rot="0">
              <a:off x="0" y="0"/>
              <a:ext cx="171450" cy="152400"/>
            </a:xfrm>
            <a:custGeom>
              <a:avLst/>
              <a:gdLst/>
              <a:ahLst/>
              <a:cxnLst/>
              <a:rect r="r" b="b" t="t" l="l"/>
              <a:pathLst>
                <a:path h="152400" w="171450">
                  <a:moveTo>
                    <a:pt x="0" y="0"/>
                  </a:moveTo>
                  <a:lnTo>
                    <a:pt x="171450" y="0"/>
                  </a:lnTo>
                  <a:lnTo>
                    <a:pt x="171450" y="152400"/>
                  </a:lnTo>
                  <a:lnTo>
                    <a:pt x="0" y="152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3773150" y="876300"/>
            <a:ext cx="3543300" cy="295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F8FAFC"/>
                </a:solidFill>
                <a:latin typeface="Arimo Bold"/>
                <a:ea typeface="Arimo Bold"/>
                <a:cs typeface="Arimo Bold"/>
                <a:sym typeface="Arimo Bold"/>
              </a:rPr>
              <a:t>Digital ao Extremo 2026 · CEEP HXV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14400" y="5004044"/>
            <a:ext cx="11858625" cy="1026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700">
                <a:solidFill>
                  <a:srgbClr val="CBD5E1"/>
                </a:solidFill>
                <a:latin typeface="Arimo"/>
                <a:ea typeface="Arimo"/>
                <a:cs typeface="Arimo"/>
                <a:sym typeface="Arimo"/>
              </a:rPr>
              <a:t>Informação rápida, local e acessível na palma da mão para toda a comunidade.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300162" y="914400"/>
            <a:ext cx="1042988" cy="228600"/>
            <a:chOff x="0" y="0"/>
            <a:chExt cx="1390650" cy="304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90650" cy="304800"/>
            </a:xfrm>
            <a:custGeom>
              <a:avLst/>
              <a:gdLst/>
              <a:ahLst/>
              <a:cxnLst/>
              <a:rect r="r" b="b" t="t" l="l"/>
              <a:pathLst>
                <a:path h="304800" w="1390650">
                  <a:moveTo>
                    <a:pt x="0" y="0"/>
                  </a:moveTo>
                  <a:lnTo>
                    <a:pt x="1390650" y="0"/>
                  </a:lnTo>
                  <a:lnTo>
                    <a:pt x="1390650" y="304800"/>
                  </a:lnTo>
                  <a:lnTo>
                    <a:pt x="0" y="304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900" r="0" b="-3890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9525"/>
              <a:ext cx="1390650" cy="3143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755"/>
                </a:lnSpc>
              </a:pPr>
              <a:r>
                <a:rPr lang="en-US" sz="1462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AO VIVO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2543175" y="873919"/>
            <a:ext cx="4768453" cy="290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true">
                <a:solidFill>
                  <a:srgbClr val="94A3B8"/>
                </a:solidFill>
                <a:latin typeface="Arimo Bold"/>
                <a:ea typeface="Arimo Bold"/>
                <a:cs typeface="Arimo Bold"/>
                <a:sym typeface="Arimo Bold"/>
              </a:rPr>
              <a:t>PORTAL DE NOTÍCIAS COMUNITÁRIO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700088" y="3970582"/>
            <a:ext cx="1171575" cy="742950"/>
            <a:chOff x="0" y="0"/>
            <a:chExt cx="1562100" cy="9906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562100" cy="990600"/>
            </a:xfrm>
            <a:custGeom>
              <a:avLst/>
              <a:gdLst/>
              <a:ahLst/>
              <a:cxnLst/>
              <a:rect r="r" b="b" t="t" l="l"/>
              <a:pathLst>
                <a:path h="990600" w="1562100">
                  <a:moveTo>
                    <a:pt x="0" y="0"/>
                  </a:moveTo>
                  <a:lnTo>
                    <a:pt x="1562100" y="0"/>
                  </a:lnTo>
                  <a:lnTo>
                    <a:pt x="1562100" y="990600"/>
                  </a:lnTo>
                  <a:lnTo>
                    <a:pt x="0" y="990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1363" t="0" r="-31363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1562100" cy="1009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3779"/>
                </a:lnSpc>
              </a:pPr>
              <a:r>
                <a:rPr lang="en-US" sz="3150" b="true">
                  <a:solidFill>
                    <a:srgbClr val="FFFFFF"/>
                  </a:solidFill>
                  <a:latin typeface="Arimo Bold"/>
                  <a:ea typeface="Arimo Bold"/>
                  <a:cs typeface="Arimo Bold"/>
                  <a:sym typeface="Arimo Bold"/>
                </a:rPr>
                <a:t>R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885950" y="3841994"/>
            <a:ext cx="4950619" cy="1000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559"/>
              </a:lnSpc>
            </a:pPr>
            <a:r>
              <a:rPr lang="en-US" sz="6300" b="true">
                <a:solidFill>
                  <a:srgbClr val="FFFFFF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RNoticias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28750" y="8491537"/>
            <a:ext cx="8447484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5"/>
              </a:lnSpc>
            </a:pPr>
            <a:r>
              <a:rPr lang="en-US" sz="1462" b="true">
                <a:solidFill>
                  <a:srgbClr val="94A3B8"/>
                </a:solidFill>
                <a:latin typeface="Arimo Bold"/>
                <a:ea typeface="Arimo Bold"/>
                <a:cs typeface="Arimo Bold"/>
                <a:sym typeface="Arimo Bold"/>
              </a:rPr>
              <a:t>EQUIPE DE DESENVOLVIMENTO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428750" y="8805863"/>
            <a:ext cx="8447484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Grupo RNoticias · Turma 2º A (Técnico em Informática)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004947" y="8505825"/>
            <a:ext cx="5911453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755"/>
              </a:lnSpc>
            </a:pPr>
            <a:r>
              <a:rPr lang="en-US" sz="1462" b="true">
                <a:solidFill>
                  <a:srgbClr val="94A3B8"/>
                </a:solidFill>
                <a:latin typeface="Arimo Bold"/>
                <a:ea typeface="Arimo Bold"/>
                <a:cs typeface="Arimo Bold"/>
                <a:sym typeface="Arimo Bold"/>
              </a:rPr>
              <a:t>INTEGRANTES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004947" y="8810625"/>
            <a:ext cx="5911453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true">
                <a:solidFill>
                  <a:srgbClr val="F1F5F9"/>
                </a:solidFill>
                <a:latin typeface="Arimo Bold"/>
                <a:ea typeface="Arimo Bold"/>
                <a:cs typeface="Arimo Bold"/>
                <a:sym typeface="Arimo Bold"/>
              </a:rPr>
              <a:t>Isac Oliveira · Enzo Gabriel · William Gabriel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07256" y="3521869"/>
            <a:ext cx="7900988" cy="3128962"/>
            <a:chOff x="0" y="0"/>
            <a:chExt cx="10534650" cy="41719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534650" cy="4171950"/>
            </a:xfrm>
            <a:custGeom>
              <a:avLst/>
              <a:gdLst/>
              <a:ahLst/>
              <a:cxnLst/>
              <a:rect r="r" b="b" t="t" l="l"/>
              <a:pathLst>
                <a:path h="4171950" w="10534650">
                  <a:moveTo>
                    <a:pt x="0" y="306197"/>
                  </a:moveTo>
                  <a:cubicBezTo>
                    <a:pt x="0" y="137033"/>
                    <a:pt x="137033" y="0"/>
                    <a:pt x="306197" y="0"/>
                  </a:cubicBezTo>
                  <a:lnTo>
                    <a:pt x="10228453" y="0"/>
                  </a:lnTo>
                  <a:cubicBezTo>
                    <a:pt x="10397490" y="0"/>
                    <a:pt x="10534650" y="137033"/>
                    <a:pt x="10534650" y="306197"/>
                  </a:cubicBezTo>
                  <a:lnTo>
                    <a:pt x="10534650" y="3865753"/>
                  </a:lnTo>
                  <a:cubicBezTo>
                    <a:pt x="10534650" y="4034790"/>
                    <a:pt x="10397617" y="4171950"/>
                    <a:pt x="10228453" y="4171950"/>
                  </a:cubicBezTo>
                  <a:lnTo>
                    <a:pt x="306197" y="4171950"/>
                  </a:lnTo>
                  <a:cubicBezTo>
                    <a:pt x="137033" y="4171950"/>
                    <a:pt x="0" y="4034917"/>
                    <a:pt x="0" y="3865753"/>
                  </a:cubicBezTo>
                  <a:close/>
                </a:path>
              </a:pathLst>
            </a:custGeom>
            <a:solidFill>
              <a:srgbClr val="FEF2F2"/>
            </a:solidFill>
            <a:ln w="14288" cap="sq">
              <a:solidFill>
                <a:srgbClr val="FECACA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6929438"/>
            <a:ext cx="7886700" cy="1114425"/>
            <a:chOff x="0" y="0"/>
            <a:chExt cx="10515600" cy="14859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15600" cy="1485900"/>
            </a:xfrm>
            <a:custGeom>
              <a:avLst/>
              <a:gdLst/>
              <a:ahLst/>
              <a:cxnLst/>
              <a:rect r="r" b="b" t="t" l="l"/>
              <a:pathLst>
                <a:path h="1485900" w="10515600">
                  <a:moveTo>
                    <a:pt x="0" y="0"/>
                  </a:moveTo>
                  <a:lnTo>
                    <a:pt x="10515600" y="0"/>
                  </a:lnTo>
                  <a:lnTo>
                    <a:pt x="10515600" y="1485900"/>
                  </a:lnTo>
                  <a:lnTo>
                    <a:pt x="0" y="1485900"/>
                  </a:lnTo>
                  <a:close/>
                </a:path>
              </a:pathLst>
            </a:custGeom>
            <a:solidFill>
              <a:srgbClr val="F8FAFC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6929438"/>
            <a:ext cx="57150" cy="1114425"/>
            <a:chOff x="0" y="0"/>
            <a:chExt cx="76200" cy="14859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6200" cy="1485900"/>
            </a:xfrm>
            <a:custGeom>
              <a:avLst/>
              <a:gdLst/>
              <a:ahLst/>
              <a:cxnLst/>
              <a:rect r="r" b="b" t="t" l="l"/>
              <a:pathLst>
                <a:path h="14859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485900"/>
                  </a:lnTo>
                  <a:lnTo>
                    <a:pt x="0" y="1485900"/>
                  </a:lnTo>
                  <a:close/>
                </a:path>
              </a:pathLst>
            </a:custGeom>
            <a:solidFill>
              <a:srgbClr val="64748B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486900" y="3143250"/>
            <a:ext cx="7886700" cy="4857750"/>
            <a:chOff x="0" y="0"/>
            <a:chExt cx="10515600" cy="6477000"/>
          </a:xfrm>
        </p:grpSpPr>
        <p:sp>
          <p:nvSpPr>
            <p:cNvPr name="Freeform 13" id="13" descr="image.png"/>
            <p:cNvSpPr/>
            <p:nvPr/>
          </p:nvSpPr>
          <p:spPr>
            <a:xfrm flipH="false" flipV="false" rot="0">
              <a:off x="0" y="0"/>
              <a:ext cx="10515600" cy="6477000"/>
            </a:xfrm>
            <a:custGeom>
              <a:avLst/>
              <a:gdLst/>
              <a:ahLst/>
              <a:cxnLst/>
              <a:rect r="r" b="b" t="t" l="l"/>
              <a:pathLst>
                <a:path h="6477000" w="10515600">
                  <a:moveTo>
                    <a:pt x="0" y="0"/>
                  </a:moveTo>
                  <a:lnTo>
                    <a:pt x="10515600" y="0"/>
                  </a:lnTo>
                  <a:lnTo>
                    <a:pt x="10515600" y="6477000"/>
                  </a:lnTo>
                  <a:lnTo>
                    <a:pt x="0" y="647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501188" y="3157538"/>
            <a:ext cx="7858125" cy="4829175"/>
            <a:chOff x="0" y="0"/>
            <a:chExt cx="10477500" cy="6438900"/>
          </a:xfrm>
        </p:grpSpPr>
        <p:sp>
          <p:nvSpPr>
            <p:cNvPr name="Freeform 15" id="15" descr="image.png"/>
            <p:cNvSpPr/>
            <p:nvPr/>
          </p:nvSpPr>
          <p:spPr>
            <a:xfrm flipH="false" flipV="false" rot="0">
              <a:off x="0" y="0"/>
              <a:ext cx="10477500" cy="6438900"/>
            </a:xfrm>
            <a:custGeom>
              <a:avLst/>
              <a:gdLst/>
              <a:ahLst/>
              <a:cxnLst/>
              <a:rect r="r" b="b" t="t" l="l"/>
              <a:pathLst>
                <a:path h="6438900" w="10477500">
                  <a:moveTo>
                    <a:pt x="0" y="0"/>
                  </a:moveTo>
                  <a:lnTo>
                    <a:pt x="10477500" y="0"/>
                  </a:lnTo>
                  <a:lnTo>
                    <a:pt x="10477500" y="6438900"/>
                  </a:lnTo>
                  <a:lnTo>
                    <a:pt x="0" y="6438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113" r="0" b="-113"/>
              </a:stretch>
            </a:blip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914400" y="676275"/>
            <a:ext cx="1578134" cy="247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1. O PROBLEMA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14400" y="1028700"/>
            <a:ext cx="173736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Acesso Limitado a Notícias Confiáveis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515225" y="8162925"/>
            <a:ext cx="9858375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575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Fonte: Pesquisa Mídia Digital 2025 · Foto: Editorial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443038" y="4191000"/>
            <a:ext cx="8536781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00"/>
              </a:lnSpc>
            </a:pPr>
            <a:r>
              <a:rPr lang="en-US" sz="9000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67%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43038" y="5334000"/>
            <a:ext cx="697230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2250" b="true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das pessoas enfrentam dificuldades para acessar notícias locais atualizadas e de fácil navegação.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4450" y="7167562"/>
            <a:ext cx="7286625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475569"/>
                </a:solidFill>
                <a:latin typeface="Arimo Bold"/>
                <a:ea typeface="Arimo Bold"/>
                <a:cs typeface="Arimo Bold"/>
                <a:sym typeface="Arimo Bold"/>
              </a:rPr>
              <a:t>Sites de notícias tradicionais muitas vezes são pesados, lentos no 3G/4G e com navegação confusa.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07256" y="4256332"/>
            <a:ext cx="7415212" cy="3059982"/>
            <a:chOff x="0" y="0"/>
            <a:chExt cx="9886950" cy="407997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9886950" cy="4080002"/>
            </a:xfrm>
            <a:custGeom>
              <a:avLst/>
              <a:gdLst/>
              <a:ahLst/>
              <a:cxnLst/>
              <a:rect r="r" b="b" t="t" l="l"/>
              <a:pathLst>
                <a:path h="4080002" w="9886950">
                  <a:moveTo>
                    <a:pt x="0" y="306197"/>
                  </a:moveTo>
                  <a:cubicBezTo>
                    <a:pt x="0" y="137033"/>
                    <a:pt x="137033" y="0"/>
                    <a:pt x="306197" y="0"/>
                  </a:cubicBezTo>
                  <a:lnTo>
                    <a:pt x="9580753" y="0"/>
                  </a:lnTo>
                  <a:cubicBezTo>
                    <a:pt x="9749917" y="0"/>
                    <a:pt x="9886950" y="137033"/>
                    <a:pt x="9886950" y="306197"/>
                  </a:cubicBezTo>
                  <a:lnTo>
                    <a:pt x="9886950" y="3773805"/>
                  </a:lnTo>
                  <a:cubicBezTo>
                    <a:pt x="9886950" y="3942969"/>
                    <a:pt x="9749917" y="4080002"/>
                    <a:pt x="9580753" y="4080002"/>
                  </a:cubicBezTo>
                  <a:lnTo>
                    <a:pt x="306197" y="4080002"/>
                  </a:lnTo>
                  <a:cubicBezTo>
                    <a:pt x="137033" y="4080002"/>
                    <a:pt x="0" y="3942842"/>
                    <a:pt x="0" y="3773805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8822531" y="3557588"/>
            <a:ext cx="8558212" cy="1042988"/>
            <a:chOff x="0" y="0"/>
            <a:chExt cx="11410950" cy="13906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410950" cy="1390650"/>
            </a:xfrm>
            <a:custGeom>
              <a:avLst/>
              <a:gdLst/>
              <a:ahLst/>
              <a:cxnLst/>
              <a:rect r="r" b="b" t="t" l="l"/>
              <a:pathLst>
                <a:path h="1390650" w="11410950">
                  <a:moveTo>
                    <a:pt x="0" y="231775"/>
                  </a:moveTo>
                  <a:cubicBezTo>
                    <a:pt x="0" y="103759"/>
                    <a:pt x="103759" y="0"/>
                    <a:pt x="231775" y="0"/>
                  </a:cubicBezTo>
                  <a:lnTo>
                    <a:pt x="11179175" y="0"/>
                  </a:lnTo>
                  <a:cubicBezTo>
                    <a:pt x="11307191" y="0"/>
                    <a:pt x="11410950" y="103759"/>
                    <a:pt x="11410950" y="231775"/>
                  </a:cubicBezTo>
                  <a:lnTo>
                    <a:pt x="11410950" y="1158875"/>
                  </a:lnTo>
                  <a:cubicBezTo>
                    <a:pt x="11410950" y="1286891"/>
                    <a:pt x="11307191" y="1390650"/>
                    <a:pt x="11179175" y="1390650"/>
                  </a:cubicBezTo>
                  <a:lnTo>
                    <a:pt x="231775" y="1390650"/>
                  </a:lnTo>
                  <a:cubicBezTo>
                    <a:pt x="103759" y="1390650"/>
                    <a:pt x="0" y="1286891"/>
                    <a:pt x="0" y="1158875"/>
                  </a:cubicBezTo>
                  <a:close/>
                </a:path>
              </a:pathLst>
            </a:custGeom>
            <a:solidFill>
              <a:srgbClr val="EFF6FF"/>
            </a:solidFill>
            <a:ln w="14288" cap="sq">
              <a:solidFill>
                <a:srgbClr val="BFDBFE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8829675" y="6893719"/>
            <a:ext cx="8543925" cy="1114425"/>
            <a:chOff x="0" y="0"/>
            <a:chExt cx="11391900" cy="14859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1391900" cy="1485900"/>
            </a:xfrm>
            <a:custGeom>
              <a:avLst/>
              <a:gdLst/>
              <a:ahLst/>
              <a:cxnLst/>
              <a:rect r="r" b="b" t="t" l="l"/>
              <a:pathLst>
                <a:path h="1485900" w="11391900">
                  <a:moveTo>
                    <a:pt x="0" y="0"/>
                  </a:moveTo>
                  <a:lnTo>
                    <a:pt x="11391900" y="0"/>
                  </a:lnTo>
                  <a:lnTo>
                    <a:pt x="11391900" y="1485900"/>
                  </a:lnTo>
                  <a:lnTo>
                    <a:pt x="0" y="1485900"/>
                  </a:lnTo>
                  <a:close/>
                </a:path>
              </a:pathLst>
            </a:custGeom>
            <a:solidFill>
              <a:srgbClr val="FEF2F2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822531" y="4814888"/>
            <a:ext cx="4171950" cy="1857375"/>
            <a:chOff x="0" y="0"/>
            <a:chExt cx="5562600" cy="24765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562600" cy="2476500"/>
            </a:xfrm>
            <a:custGeom>
              <a:avLst/>
              <a:gdLst/>
              <a:ahLst/>
              <a:cxnLst/>
              <a:rect r="r" b="b" t="t" l="l"/>
              <a:pathLst>
                <a:path h="2476500" w="5562600">
                  <a:moveTo>
                    <a:pt x="0" y="230378"/>
                  </a:moveTo>
                  <a:cubicBezTo>
                    <a:pt x="0" y="103124"/>
                    <a:pt x="103124" y="0"/>
                    <a:pt x="230378" y="0"/>
                  </a:cubicBezTo>
                  <a:lnTo>
                    <a:pt x="5332222" y="0"/>
                  </a:lnTo>
                  <a:cubicBezTo>
                    <a:pt x="5459476" y="0"/>
                    <a:pt x="5562600" y="103124"/>
                    <a:pt x="5562600" y="230378"/>
                  </a:cubicBezTo>
                  <a:lnTo>
                    <a:pt x="5562600" y="2246122"/>
                  </a:lnTo>
                  <a:cubicBezTo>
                    <a:pt x="5562600" y="2373376"/>
                    <a:pt x="5459476" y="2476500"/>
                    <a:pt x="5332222" y="2476500"/>
                  </a:cubicBezTo>
                  <a:lnTo>
                    <a:pt x="230378" y="2476500"/>
                  </a:lnTo>
                  <a:cubicBezTo>
                    <a:pt x="103124" y="2476500"/>
                    <a:pt x="0" y="2373376"/>
                    <a:pt x="0" y="2246122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CBD5E1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3208794" y="4814888"/>
            <a:ext cx="4171950" cy="1857375"/>
            <a:chOff x="0" y="0"/>
            <a:chExt cx="5562600" cy="24765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562600" cy="2476500"/>
            </a:xfrm>
            <a:custGeom>
              <a:avLst/>
              <a:gdLst/>
              <a:ahLst/>
              <a:cxnLst/>
              <a:rect r="r" b="b" t="t" l="l"/>
              <a:pathLst>
                <a:path h="2476500" w="5562600">
                  <a:moveTo>
                    <a:pt x="0" y="230378"/>
                  </a:moveTo>
                  <a:cubicBezTo>
                    <a:pt x="0" y="103124"/>
                    <a:pt x="103124" y="0"/>
                    <a:pt x="230378" y="0"/>
                  </a:cubicBezTo>
                  <a:lnTo>
                    <a:pt x="5332222" y="0"/>
                  </a:lnTo>
                  <a:cubicBezTo>
                    <a:pt x="5459476" y="0"/>
                    <a:pt x="5562600" y="103124"/>
                    <a:pt x="5562600" y="230378"/>
                  </a:cubicBezTo>
                  <a:lnTo>
                    <a:pt x="5562600" y="2246122"/>
                  </a:lnTo>
                  <a:cubicBezTo>
                    <a:pt x="5562600" y="2373376"/>
                    <a:pt x="5459476" y="2476500"/>
                    <a:pt x="5332222" y="2476500"/>
                  </a:cubicBezTo>
                  <a:lnTo>
                    <a:pt x="230378" y="2476500"/>
                  </a:lnTo>
                  <a:cubicBezTo>
                    <a:pt x="103124" y="2476500"/>
                    <a:pt x="0" y="2373376"/>
                    <a:pt x="0" y="2246122"/>
                  </a:cubicBezTo>
                  <a:close/>
                </a:path>
              </a:pathLst>
            </a:custGeom>
            <a:solidFill>
              <a:srgbClr val="FFFFFF"/>
            </a:solidFill>
            <a:ln w="14288" cap="sq">
              <a:solidFill>
                <a:srgbClr val="CBD5E1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8829675" y="6893719"/>
            <a:ext cx="57150" cy="1114425"/>
            <a:chOff x="0" y="0"/>
            <a:chExt cx="76200" cy="14859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6200" cy="1485900"/>
            </a:xfrm>
            <a:custGeom>
              <a:avLst/>
              <a:gdLst/>
              <a:ahLst/>
              <a:cxnLst/>
              <a:rect r="r" b="b" t="t" l="l"/>
              <a:pathLst>
                <a:path h="14859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485900"/>
                  </a:lnTo>
                  <a:lnTo>
                    <a:pt x="0" y="1485900"/>
                  </a:ln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328738" y="4677813"/>
            <a:ext cx="1028700" cy="1028700"/>
            <a:chOff x="0" y="0"/>
            <a:chExt cx="1371600" cy="1371600"/>
          </a:xfrm>
        </p:grpSpPr>
        <p:sp>
          <p:nvSpPr>
            <p:cNvPr name="Freeform 19" id="19" descr="image.png"/>
            <p:cNvSpPr/>
            <p:nvPr/>
          </p:nvSpPr>
          <p:spPr>
            <a:xfrm flipH="false" flipV="false" rot="0">
              <a:off x="0" y="0"/>
              <a:ext cx="1371600" cy="1371600"/>
            </a:xfrm>
            <a:custGeom>
              <a:avLst/>
              <a:gdLst/>
              <a:ahLst/>
              <a:cxnLst/>
              <a:rect r="r" b="b" t="t" l="l"/>
              <a:pathLst>
                <a:path h="1371600" w="1371600">
                  <a:moveTo>
                    <a:pt x="0" y="0"/>
                  </a:moveTo>
                  <a:lnTo>
                    <a:pt x="1371600" y="0"/>
                  </a:lnTo>
                  <a:lnTo>
                    <a:pt x="1371600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94" r="0" b="-694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357312" y="4706388"/>
            <a:ext cx="971550" cy="971550"/>
            <a:chOff x="0" y="0"/>
            <a:chExt cx="1295400" cy="1295400"/>
          </a:xfrm>
        </p:grpSpPr>
        <p:sp>
          <p:nvSpPr>
            <p:cNvPr name="Freeform 21" id="21" descr="image.png"/>
            <p:cNvSpPr/>
            <p:nvPr/>
          </p:nvSpPr>
          <p:spPr>
            <a:xfrm flipH="false" flipV="false" rot="0">
              <a:off x="0" y="0"/>
              <a:ext cx="1295400" cy="1295400"/>
            </a:xfrm>
            <a:custGeom>
              <a:avLst/>
              <a:gdLst/>
              <a:ahLst/>
              <a:cxnLst/>
              <a:rect r="r" b="b" t="t" l="l"/>
              <a:pathLst>
                <a:path h="1295400" w="1295400">
                  <a:moveTo>
                    <a:pt x="0" y="0"/>
                  </a:moveTo>
                  <a:lnTo>
                    <a:pt x="1295400" y="0"/>
                  </a:lnTo>
                  <a:lnTo>
                    <a:pt x="1295400" y="1295400"/>
                  </a:lnTo>
                  <a:lnTo>
                    <a:pt x="0" y="1295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694" r="0" b="-695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129712" y="3850481"/>
            <a:ext cx="157162" cy="214312"/>
            <a:chOff x="0" y="0"/>
            <a:chExt cx="209550" cy="285750"/>
          </a:xfrm>
        </p:grpSpPr>
        <p:sp>
          <p:nvSpPr>
            <p:cNvPr name="Freeform 23" id="23" descr="image.png"/>
            <p:cNvSpPr/>
            <p:nvPr/>
          </p:nvSpPr>
          <p:spPr>
            <a:xfrm flipH="false" flipV="false" rot="0">
              <a:off x="0" y="0"/>
              <a:ext cx="209550" cy="285750"/>
            </a:xfrm>
            <a:custGeom>
              <a:avLst/>
              <a:gdLst/>
              <a:ahLst/>
              <a:cxnLst/>
              <a:rect r="r" b="b" t="t" l="l"/>
              <a:pathLst>
                <a:path h="285750" w="209550">
                  <a:moveTo>
                    <a:pt x="0" y="0"/>
                  </a:moveTo>
                  <a:lnTo>
                    <a:pt x="209550" y="0"/>
                  </a:lnTo>
                  <a:lnTo>
                    <a:pt x="209550" y="285750"/>
                  </a:lnTo>
                  <a:lnTo>
                    <a:pt x="0" y="2857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3333" r="0" b="-3333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14400" y="676275"/>
            <a:ext cx="173736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2. PÚBLICO-ALVO &amp; DESCOBERTAS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14400" y="1028700"/>
            <a:ext cx="173736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Para Quem é o RNoticias?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328738" y="5877963"/>
            <a:ext cx="6715125" cy="1016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8"/>
              </a:lnSpc>
            </a:pPr>
            <a:r>
              <a:rPr lang="en-US" sz="1800" b="true">
                <a:solidFill>
                  <a:srgbClr val="334155"/>
                </a:solidFill>
                <a:latin typeface="Arimo Bold"/>
                <a:ea typeface="Arimo Bold"/>
                <a:cs typeface="Arimo Bold"/>
                <a:sym typeface="Arimo Bold"/>
              </a:rPr>
              <a:t>Necessidade:</a:t>
            </a:r>
            <a:r>
              <a:rPr lang="en-US" sz="1800">
                <a:solidFill>
                  <a:srgbClr val="334155"/>
                </a:solidFill>
                <a:latin typeface="Arimo"/>
                <a:ea typeface="Arimo"/>
                <a:cs typeface="Arimo"/>
                <a:sym typeface="Arimo"/>
              </a:rPr>
              <a:t> Informar-se sobre transporte, emprego e eventos locais durante o trajeto de ônibus diário, em um site leve.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310688" y="3788569"/>
            <a:ext cx="7905750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true">
                <a:solidFill>
                  <a:srgbClr val="1E40AF"/>
                </a:solidFill>
                <a:latin typeface="Arimo Bold"/>
                <a:ea typeface="Arimo Bold"/>
                <a:cs typeface="Arimo Bold"/>
                <a:sym typeface="Arimo Bold"/>
              </a:rPr>
              <a:t>Pesquisa de campo: Formulário com 120 moradores da região do CEEP HXV.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229725" y="7131844"/>
            <a:ext cx="7943850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991B1B"/>
                </a:solidFill>
                <a:latin typeface="Arimo Bold"/>
                <a:ea typeface="Arimo Bold"/>
                <a:cs typeface="Arimo Bold"/>
                <a:sym typeface="Arimo Bold"/>
              </a:rPr>
              <a:t>O que isso mudou: Priorizamos layout limpo, carregamento em menos de 1 segundo e foco exclusivo em matérias comunitárias.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586038" y="4832594"/>
            <a:ext cx="3581695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0"/>
              </a:lnSpc>
            </a:pPr>
            <a:r>
              <a:rPr lang="en-US" sz="2475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Mariana, 24 anos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586038" y="5251694"/>
            <a:ext cx="3411141" cy="290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Estudante &amp; Trabalhadora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9129712" y="5112544"/>
            <a:ext cx="4446984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DESCOBERTA 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129712" y="5445919"/>
            <a:ext cx="3700462" cy="919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Dificuldade em encontrar as informações principais em páginas poluídas.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515975" y="5112544"/>
            <a:ext cx="4446984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DESCOBERTA 2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515975" y="5445919"/>
            <a:ext cx="3700462" cy="919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Falta de informações específicas dos bairros e projetos comunitários.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1971675"/>
            <a:ext cx="16459200" cy="942975"/>
            <a:chOff x="0" y="0"/>
            <a:chExt cx="21945600" cy="1257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1257300"/>
            </a:xfrm>
            <a:custGeom>
              <a:avLst/>
              <a:gdLst/>
              <a:ahLst/>
              <a:cxnLst/>
              <a:rect r="r" b="b" t="t" l="l"/>
              <a:pathLst>
                <a:path h="1257300" w="21945600">
                  <a:moveTo>
                    <a:pt x="0" y="228600"/>
                  </a:moveTo>
                  <a:cubicBezTo>
                    <a:pt x="0" y="102362"/>
                    <a:pt x="102362" y="0"/>
                    <a:pt x="228600" y="0"/>
                  </a:cubicBezTo>
                  <a:lnTo>
                    <a:pt x="21717000" y="0"/>
                  </a:lnTo>
                  <a:cubicBezTo>
                    <a:pt x="21843237" y="0"/>
                    <a:pt x="21945600" y="102362"/>
                    <a:pt x="21945600" y="228600"/>
                  </a:cubicBezTo>
                  <a:lnTo>
                    <a:pt x="21945600" y="1028700"/>
                  </a:lnTo>
                  <a:cubicBezTo>
                    <a:pt x="21945600" y="1154938"/>
                    <a:pt x="21843237" y="1257300"/>
                    <a:pt x="21717000" y="1257300"/>
                  </a:cubicBezTo>
                  <a:lnTo>
                    <a:pt x="228600" y="1257300"/>
                  </a:lnTo>
                  <a:cubicBezTo>
                    <a:pt x="102362" y="1257300"/>
                    <a:pt x="0" y="1154938"/>
                    <a:pt x="0" y="1028700"/>
                  </a:cubicBezTo>
                  <a:close/>
                </a:path>
              </a:pathLst>
            </a:custGeom>
            <a:solidFill>
              <a:srgbClr val="1E293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8558212"/>
            <a:ext cx="16459200" cy="1042988"/>
            <a:chOff x="0" y="0"/>
            <a:chExt cx="21945600" cy="13906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390650"/>
            </a:xfrm>
            <a:custGeom>
              <a:avLst/>
              <a:gdLst/>
              <a:ahLst/>
              <a:cxnLst/>
              <a:rect r="r" b="b" t="t" l="l"/>
              <a:pathLst>
                <a:path h="1390650" w="21945600">
                  <a:moveTo>
                    <a:pt x="0" y="190500"/>
                  </a:moveTo>
                  <a:cubicBezTo>
                    <a:pt x="0" y="85344"/>
                    <a:pt x="85344" y="0"/>
                    <a:pt x="190500" y="0"/>
                  </a:cubicBezTo>
                  <a:lnTo>
                    <a:pt x="21755100" y="0"/>
                  </a:lnTo>
                  <a:cubicBezTo>
                    <a:pt x="21860256" y="0"/>
                    <a:pt x="21945600" y="85344"/>
                    <a:pt x="21945600" y="190500"/>
                  </a:cubicBezTo>
                  <a:lnTo>
                    <a:pt x="21945600" y="1200150"/>
                  </a:lnTo>
                  <a:cubicBezTo>
                    <a:pt x="21945600" y="1305306"/>
                    <a:pt x="21860256" y="1390650"/>
                    <a:pt x="21755100" y="1390650"/>
                  </a:cubicBezTo>
                  <a:lnTo>
                    <a:pt x="190500" y="1390650"/>
                  </a:lnTo>
                  <a:cubicBezTo>
                    <a:pt x="85344" y="1390650"/>
                    <a:pt x="0" y="1305306"/>
                    <a:pt x="0" y="1200150"/>
                  </a:cubicBez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07256" y="4479131"/>
            <a:ext cx="5310264" cy="2628900"/>
            <a:chOff x="0" y="0"/>
            <a:chExt cx="7080352" cy="3505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080376" cy="3505200"/>
            </a:xfrm>
            <a:custGeom>
              <a:avLst/>
              <a:gdLst/>
              <a:ahLst/>
              <a:cxnLst/>
              <a:rect r="r" b="b" t="t" l="l"/>
              <a:pathLst>
                <a:path h="3505200" w="7080376">
                  <a:moveTo>
                    <a:pt x="0" y="229870"/>
                  </a:moveTo>
                  <a:cubicBezTo>
                    <a:pt x="0" y="102870"/>
                    <a:pt x="102870" y="0"/>
                    <a:pt x="229870" y="0"/>
                  </a:cubicBezTo>
                  <a:lnTo>
                    <a:pt x="6850507" y="0"/>
                  </a:lnTo>
                  <a:cubicBezTo>
                    <a:pt x="6977380" y="0"/>
                    <a:pt x="7080376" y="102870"/>
                    <a:pt x="7080376" y="229870"/>
                  </a:cubicBezTo>
                  <a:lnTo>
                    <a:pt x="7080376" y="3275330"/>
                  </a:lnTo>
                  <a:cubicBezTo>
                    <a:pt x="7080376" y="3402203"/>
                    <a:pt x="6977507" y="3505200"/>
                    <a:pt x="6850507" y="3505200"/>
                  </a:cubicBezTo>
                  <a:lnTo>
                    <a:pt x="229870" y="3505200"/>
                  </a:lnTo>
                  <a:cubicBezTo>
                    <a:pt x="102870" y="3505200"/>
                    <a:pt x="0" y="3402330"/>
                    <a:pt x="0" y="3275330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6488982" y="4479131"/>
            <a:ext cx="5310264" cy="2628900"/>
            <a:chOff x="0" y="0"/>
            <a:chExt cx="7080352" cy="3505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080376" cy="3505200"/>
            </a:xfrm>
            <a:custGeom>
              <a:avLst/>
              <a:gdLst/>
              <a:ahLst/>
              <a:cxnLst/>
              <a:rect r="r" b="b" t="t" l="l"/>
              <a:pathLst>
                <a:path h="3505200" w="7080376">
                  <a:moveTo>
                    <a:pt x="0" y="229870"/>
                  </a:moveTo>
                  <a:cubicBezTo>
                    <a:pt x="0" y="102870"/>
                    <a:pt x="102870" y="0"/>
                    <a:pt x="229870" y="0"/>
                  </a:cubicBezTo>
                  <a:lnTo>
                    <a:pt x="6850507" y="0"/>
                  </a:lnTo>
                  <a:cubicBezTo>
                    <a:pt x="6977380" y="0"/>
                    <a:pt x="7080376" y="102870"/>
                    <a:pt x="7080376" y="229870"/>
                  </a:cubicBezTo>
                  <a:lnTo>
                    <a:pt x="7080376" y="3275330"/>
                  </a:lnTo>
                  <a:cubicBezTo>
                    <a:pt x="7080376" y="3402203"/>
                    <a:pt x="6977507" y="3505200"/>
                    <a:pt x="6850507" y="3505200"/>
                  </a:cubicBezTo>
                  <a:lnTo>
                    <a:pt x="229870" y="3505200"/>
                  </a:lnTo>
                  <a:cubicBezTo>
                    <a:pt x="102870" y="3505200"/>
                    <a:pt x="0" y="3402330"/>
                    <a:pt x="0" y="3275330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2070709" y="4479131"/>
            <a:ext cx="5310264" cy="2628900"/>
            <a:chOff x="0" y="0"/>
            <a:chExt cx="7080352" cy="35052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080376" cy="3505200"/>
            </a:xfrm>
            <a:custGeom>
              <a:avLst/>
              <a:gdLst/>
              <a:ahLst/>
              <a:cxnLst/>
              <a:rect r="r" b="b" t="t" l="l"/>
              <a:pathLst>
                <a:path h="3505200" w="7080376">
                  <a:moveTo>
                    <a:pt x="0" y="229870"/>
                  </a:moveTo>
                  <a:cubicBezTo>
                    <a:pt x="0" y="102870"/>
                    <a:pt x="102870" y="0"/>
                    <a:pt x="229870" y="0"/>
                  </a:cubicBezTo>
                  <a:lnTo>
                    <a:pt x="6850507" y="0"/>
                  </a:lnTo>
                  <a:cubicBezTo>
                    <a:pt x="6977380" y="0"/>
                    <a:pt x="7080376" y="102870"/>
                    <a:pt x="7080376" y="229870"/>
                  </a:cubicBezTo>
                  <a:lnTo>
                    <a:pt x="7080376" y="3275330"/>
                  </a:lnTo>
                  <a:cubicBezTo>
                    <a:pt x="7080376" y="3402203"/>
                    <a:pt x="6977507" y="3505200"/>
                    <a:pt x="6850507" y="3505200"/>
                  </a:cubicBezTo>
                  <a:lnTo>
                    <a:pt x="229870" y="3505200"/>
                  </a:lnTo>
                  <a:cubicBezTo>
                    <a:pt x="102870" y="3505200"/>
                    <a:pt x="0" y="3402330"/>
                    <a:pt x="0" y="3275330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E2E8F0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397558" y="8877895"/>
            <a:ext cx="6575992" cy="428625"/>
            <a:chOff x="0" y="0"/>
            <a:chExt cx="7353300" cy="4792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353300" cy="479290"/>
            </a:xfrm>
            <a:custGeom>
              <a:avLst/>
              <a:gdLst/>
              <a:ahLst/>
              <a:cxnLst/>
              <a:rect r="r" b="b" t="t" l="l"/>
              <a:pathLst>
                <a:path h="479290" w="7353300">
                  <a:moveTo>
                    <a:pt x="0" y="77723"/>
                  </a:moveTo>
                  <a:cubicBezTo>
                    <a:pt x="0" y="34803"/>
                    <a:pt x="51181" y="0"/>
                    <a:pt x="114300" y="0"/>
                  </a:cubicBezTo>
                  <a:lnTo>
                    <a:pt x="7239000" y="0"/>
                  </a:lnTo>
                  <a:cubicBezTo>
                    <a:pt x="7302119" y="0"/>
                    <a:pt x="7353300" y="34803"/>
                    <a:pt x="7353300" y="77723"/>
                  </a:cubicBezTo>
                  <a:lnTo>
                    <a:pt x="7353300" y="401567"/>
                  </a:lnTo>
                  <a:cubicBezTo>
                    <a:pt x="7353300" y="444488"/>
                    <a:pt x="7302119" y="479290"/>
                    <a:pt x="7239000" y="479290"/>
                  </a:cubicBezTo>
                  <a:lnTo>
                    <a:pt x="114300" y="479290"/>
                  </a:lnTo>
                  <a:cubicBezTo>
                    <a:pt x="51181" y="479290"/>
                    <a:pt x="0" y="444488"/>
                    <a:pt x="0" y="401567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271588" y="4843462"/>
            <a:ext cx="628650" cy="628650"/>
            <a:chOff x="0" y="0"/>
            <a:chExt cx="838200" cy="838200"/>
          </a:xfrm>
        </p:grpSpPr>
        <p:sp>
          <p:nvSpPr>
            <p:cNvPr name="Freeform 19" id="19" descr="image.png"/>
            <p:cNvSpPr/>
            <p:nvPr/>
          </p:nvSpPr>
          <p:spPr>
            <a:xfrm flipH="false" flipV="false" rot="0">
              <a:off x="0" y="0"/>
              <a:ext cx="838200" cy="838200"/>
            </a:xfrm>
            <a:custGeom>
              <a:avLst/>
              <a:gdLst/>
              <a:ahLst/>
              <a:cxnLst/>
              <a:rect r="r" b="b" t="t" l="l"/>
              <a:pathLst>
                <a:path h="838200" w="838200">
                  <a:moveTo>
                    <a:pt x="0" y="0"/>
                  </a:moveTo>
                  <a:lnTo>
                    <a:pt x="838200" y="0"/>
                  </a:lnTo>
                  <a:lnTo>
                    <a:pt x="8382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853314" y="4843462"/>
            <a:ext cx="628650" cy="628650"/>
            <a:chOff x="0" y="0"/>
            <a:chExt cx="838200" cy="838200"/>
          </a:xfrm>
        </p:grpSpPr>
        <p:sp>
          <p:nvSpPr>
            <p:cNvPr name="Freeform 21" id="21" descr="image.png"/>
            <p:cNvSpPr/>
            <p:nvPr/>
          </p:nvSpPr>
          <p:spPr>
            <a:xfrm flipH="false" flipV="false" rot="0">
              <a:off x="0" y="0"/>
              <a:ext cx="838200" cy="838200"/>
            </a:xfrm>
            <a:custGeom>
              <a:avLst/>
              <a:gdLst/>
              <a:ahLst/>
              <a:cxnLst/>
              <a:rect r="r" b="b" t="t" l="l"/>
              <a:pathLst>
                <a:path h="838200" w="838200">
                  <a:moveTo>
                    <a:pt x="0" y="0"/>
                  </a:moveTo>
                  <a:lnTo>
                    <a:pt x="838200" y="0"/>
                  </a:lnTo>
                  <a:lnTo>
                    <a:pt x="8382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136" t="0" r="-1136" b="0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2435040" y="4843462"/>
            <a:ext cx="628650" cy="628650"/>
            <a:chOff x="0" y="0"/>
            <a:chExt cx="838200" cy="838200"/>
          </a:xfrm>
        </p:grpSpPr>
        <p:sp>
          <p:nvSpPr>
            <p:cNvPr name="Freeform 23" id="23" descr="image.png"/>
            <p:cNvSpPr/>
            <p:nvPr/>
          </p:nvSpPr>
          <p:spPr>
            <a:xfrm flipH="false" flipV="false" rot="0">
              <a:off x="0" y="0"/>
              <a:ext cx="838200" cy="838200"/>
            </a:xfrm>
            <a:custGeom>
              <a:avLst/>
              <a:gdLst/>
              <a:ahLst/>
              <a:cxnLst/>
              <a:rect r="r" b="b" t="t" l="l"/>
              <a:pathLst>
                <a:path h="838200" w="838200">
                  <a:moveTo>
                    <a:pt x="0" y="0"/>
                  </a:moveTo>
                  <a:lnTo>
                    <a:pt x="838200" y="0"/>
                  </a:lnTo>
                  <a:lnTo>
                    <a:pt x="838200" y="838200"/>
                  </a:lnTo>
                  <a:lnTo>
                    <a:pt x="0" y="838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136" t="0" r="-1136" b="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314450" y="8922544"/>
            <a:ext cx="357188" cy="314325"/>
            <a:chOff x="0" y="0"/>
            <a:chExt cx="476250" cy="419100"/>
          </a:xfrm>
        </p:grpSpPr>
        <p:sp>
          <p:nvSpPr>
            <p:cNvPr name="Freeform 25" id="25" descr="image.png"/>
            <p:cNvSpPr/>
            <p:nvPr/>
          </p:nvSpPr>
          <p:spPr>
            <a:xfrm flipH="false" flipV="false" rot="0">
              <a:off x="0" y="0"/>
              <a:ext cx="476250" cy="419100"/>
            </a:xfrm>
            <a:custGeom>
              <a:avLst/>
              <a:gdLst/>
              <a:ahLst/>
              <a:cxnLst/>
              <a:rect r="r" b="b" t="t" l="l"/>
              <a:pathLst>
                <a:path h="419100" w="476250">
                  <a:moveTo>
                    <a:pt x="0" y="0"/>
                  </a:moveTo>
                  <a:lnTo>
                    <a:pt x="476250" y="0"/>
                  </a:lnTo>
                  <a:lnTo>
                    <a:pt x="476250" y="419100"/>
                  </a:lnTo>
                  <a:lnTo>
                    <a:pt x="0" y="419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-2272" r="0" b="-2272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457325" y="5014912"/>
            <a:ext cx="257175" cy="285750"/>
            <a:chOff x="0" y="0"/>
            <a:chExt cx="342900" cy="381000"/>
          </a:xfrm>
        </p:grpSpPr>
        <p:sp>
          <p:nvSpPr>
            <p:cNvPr name="Freeform 27" id="27" descr="image.png"/>
            <p:cNvSpPr/>
            <p:nvPr/>
          </p:nvSpPr>
          <p:spPr>
            <a:xfrm flipH="false" flipV="false" rot="0">
              <a:off x="0" y="0"/>
              <a:ext cx="342900" cy="381000"/>
            </a:xfrm>
            <a:custGeom>
              <a:avLst/>
              <a:gdLst/>
              <a:ahLst/>
              <a:cxnLst/>
              <a:rect r="r" b="b" t="t" l="l"/>
              <a:pathLst>
                <a:path h="381000" w="342900">
                  <a:moveTo>
                    <a:pt x="0" y="0"/>
                  </a:moveTo>
                  <a:lnTo>
                    <a:pt x="342900" y="0"/>
                  </a:lnTo>
                  <a:lnTo>
                    <a:pt x="3429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7024764" y="5014912"/>
            <a:ext cx="285750" cy="285750"/>
            <a:chOff x="0" y="0"/>
            <a:chExt cx="381000" cy="381000"/>
          </a:xfrm>
        </p:grpSpPr>
        <p:sp>
          <p:nvSpPr>
            <p:cNvPr name="Freeform 29" id="29" descr="image.png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0" y="0"/>
                  </a:moveTo>
                  <a:lnTo>
                    <a:pt x="381000" y="0"/>
                  </a:lnTo>
                  <a:lnTo>
                    <a:pt x="3810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500" t="0" r="-2500" b="0"/>
              </a:stretch>
            </a:blip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606490" y="5014912"/>
            <a:ext cx="285750" cy="285750"/>
            <a:chOff x="0" y="0"/>
            <a:chExt cx="381000" cy="381000"/>
          </a:xfrm>
        </p:grpSpPr>
        <p:sp>
          <p:nvSpPr>
            <p:cNvPr name="Freeform 31" id="31" descr="image.png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0" y="0"/>
                  </a:moveTo>
                  <a:lnTo>
                    <a:pt x="381000" y="0"/>
                  </a:lnTo>
                  <a:lnTo>
                    <a:pt x="3810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-2500" t="0" r="-2500" b="0"/>
              </a:stretch>
            </a:blipFill>
          </p:spPr>
        </p:sp>
      </p:grpSp>
      <p:sp>
        <p:nvSpPr>
          <p:cNvPr name="TextBox 32" id="32"/>
          <p:cNvSpPr txBox="true"/>
          <p:nvPr/>
        </p:nvSpPr>
        <p:spPr>
          <a:xfrm rot="0">
            <a:off x="914400" y="676275"/>
            <a:ext cx="173736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3. NOSSA SOLUÇÃO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14400" y="1028700"/>
            <a:ext cx="173736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O Portal RNoticias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14450" y="2219325"/>
            <a:ext cx="16973550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225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O </a:t>
            </a:r>
            <a:r>
              <a:rPr lang="en-US" sz="2250" b="true">
                <a:solidFill>
                  <a:srgbClr val="EF4444"/>
                </a:solidFill>
                <a:latin typeface="Arimo Bold"/>
                <a:ea typeface="Arimo Bold"/>
                <a:cs typeface="Arimo Bold"/>
                <a:sym typeface="Arimo Bold"/>
              </a:rPr>
              <a:t>RNoticias</a:t>
            </a:r>
            <a:r>
              <a:rPr lang="en-US" sz="225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 ajuda os moradores a acessar notícias verificadas de forma leve, gratuita e intuitiva.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468181" y="8944570"/>
            <a:ext cx="6505369" cy="270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8"/>
              </a:lnSpc>
            </a:pPr>
            <a:r>
              <a:rPr lang="en-US" sz="1824" b="true">
                <a:solidFill>
                  <a:srgbClr val="DC262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https://isacamarmota.github.io/Digitao_Extremo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71588" y="5634037"/>
            <a:ext cx="6013352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1. Leitura Dinâmica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71588" y="6124575"/>
            <a:ext cx="4724476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Resumos instantâneos com indicador visual de tempo de leitura.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853314" y="5634037"/>
            <a:ext cx="6013352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2. Filtro de Seções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6853314" y="6124575"/>
            <a:ext cx="4724476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Categorização simples por Cidade, Cultura, Empregos e CEEP.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2435040" y="5634037"/>
            <a:ext cx="5852960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3. Modo Acessível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2435040" y="6124575"/>
            <a:ext cx="4724476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Suporte a ajuste de fonte e leitura adaptada para dispositivos móveis.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843088" y="8905875"/>
            <a:ext cx="4429125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DEMONSTRAÇÃO AO VIVO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07256" y="3307556"/>
            <a:ext cx="9866862" cy="4957762"/>
            <a:chOff x="0" y="0"/>
            <a:chExt cx="13155816" cy="66103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3155803" cy="6610350"/>
            </a:xfrm>
            <a:custGeom>
              <a:avLst/>
              <a:gdLst/>
              <a:ahLst/>
              <a:cxnLst/>
              <a:rect r="r" b="b" t="t" l="l"/>
              <a:pathLst>
                <a:path h="6610350" w="13155803">
                  <a:moveTo>
                    <a:pt x="0" y="229235"/>
                  </a:moveTo>
                  <a:cubicBezTo>
                    <a:pt x="0" y="102616"/>
                    <a:pt x="102616" y="0"/>
                    <a:pt x="229235" y="0"/>
                  </a:cubicBezTo>
                  <a:lnTo>
                    <a:pt x="12926568" y="0"/>
                  </a:lnTo>
                  <a:cubicBezTo>
                    <a:pt x="13053186" y="0"/>
                    <a:pt x="13155803" y="102616"/>
                    <a:pt x="13155803" y="229235"/>
                  </a:cubicBezTo>
                  <a:lnTo>
                    <a:pt x="13155803" y="6381115"/>
                  </a:lnTo>
                  <a:cubicBezTo>
                    <a:pt x="13155803" y="6507734"/>
                    <a:pt x="13053186" y="6610350"/>
                    <a:pt x="12926568" y="6610350"/>
                  </a:cubicBezTo>
                  <a:lnTo>
                    <a:pt x="229235" y="6610350"/>
                  </a:lnTo>
                  <a:cubicBezTo>
                    <a:pt x="102616" y="6610350"/>
                    <a:pt x="0" y="6507734"/>
                    <a:pt x="0" y="6381115"/>
                  </a:cubicBezTo>
                  <a:close/>
                </a:path>
              </a:pathLst>
            </a:custGeom>
            <a:solidFill>
              <a:srgbClr val="0F172A"/>
            </a:solidFill>
            <a:ln w="14288" cap="sq">
              <a:solidFill>
                <a:srgbClr val="334155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1281324" y="3514725"/>
            <a:ext cx="6092276" cy="1371600"/>
            <a:chOff x="0" y="0"/>
            <a:chExt cx="8123034" cy="1828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3047" cy="1828800"/>
            </a:xfrm>
            <a:custGeom>
              <a:avLst/>
              <a:gdLst/>
              <a:ahLst/>
              <a:cxnLst/>
              <a:rect r="r" b="b" t="t" l="l"/>
              <a:pathLst>
                <a:path h="1828800" w="8123047">
                  <a:moveTo>
                    <a:pt x="0" y="0"/>
                  </a:moveTo>
                  <a:lnTo>
                    <a:pt x="8123047" y="0"/>
                  </a:lnTo>
                  <a:lnTo>
                    <a:pt x="8123047" y="182880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F8FAFC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281324" y="5114925"/>
            <a:ext cx="6092276" cy="1357312"/>
            <a:chOff x="0" y="0"/>
            <a:chExt cx="8123034" cy="180975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3047" cy="1809750"/>
            </a:xfrm>
            <a:custGeom>
              <a:avLst/>
              <a:gdLst/>
              <a:ahLst/>
              <a:cxnLst/>
              <a:rect r="r" b="b" t="t" l="l"/>
              <a:pathLst>
                <a:path h="1809750" w="8123047">
                  <a:moveTo>
                    <a:pt x="0" y="0"/>
                  </a:moveTo>
                  <a:lnTo>
                    <a:pt x="8123047" y="0"/>
                  </a:lnTo>
                  <a:lnTo>
                    <a:pt x="8123047" y="1809750"/>
                  </a:lnTo>
                  <a:lnTo>
                    <a:pt x="0" y="1809750"/>
                  </a:lnTo>
                  <a:close/>
                </a:path>
              </a:pathLst>
            </a:custGeom>
            <a:solidFill>
              <a:srgbClr val="F8FAFC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281324" y="6700838"/>
            <a:ext cx="6092276" cy="1357312"/>
            <a:chOff x="0" y="0"/>
            <a:chExt cx="8123034" cy="180975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3047" cy="1809750"/>
            </a:xfrm>
            <a:custGeom>
              <a:avLst/>
              <a:gdLst/>
              <a:ahLst/>
              <a:cxnLst/>
              <a:rect r="r" b="b" t="t" l="l"/>
              <a:pathLst>
                <a:path h="1809750" w="8123047">
                  <a:moveTo>
                    <a:pt x="0" y="0"/>
                  </a:moveTo>
                  <a:lnTo>
                    <a:pt x="8123047" y="0"/>
                  </a:lnTo>
                  <a:lnTo>
                    <a:pt x="8123047" y="1809750"/>
                  </a:lnTo>
                  <a:lnTo>
                    <a:pt x="0" y="1809750"/>
                  </a:lnTo>
                  <a:close/>
                </a:path>
              </a:pathLst>
            </a:custGeom>
            <a:solidFill>
              <a:srgbClr val="F8FAFC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271588" y="3671888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cubicBezTo>
                    <a:pt x="177419" y="0"/>
                    <a:pt x="228600" y="51181"/>
                    <a:pt x="228600" y="114300"/>
                  </a:cubicBezTo>
                  <a:cubicBezTo>
                    <a:pt x="228600" y="177419"/>
                    <a:pt x="177419" y="228600"/>
                    <a:pt x="114300" y="228600"/>
                  </a:cubicBezTo>
                  <a:cubicBezTo>
                    <a:pt x="51181" y="228600"/>
                    <a:pt x="0" y="177419"/>
                    <a:pt x="0" y="114300"/>
                  </a:cubicBezTo>
                  <a:close/>
                </a:path>
              </a:pathLst>
            </a:custGeom>
            <a:solidFill>
              <a:srgbClr val="EF4444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557338" y="3671888"/>
            <a:ext cx="171450" cy="171450"/>
            <a:chOff x="0" y="0"/>
            <a:chExt cx="228600" cy="2286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cubicBezTo>
                    <a:pt x="177419" y="0"/>
                    <a:pt x="228600" y="51181"/>
                    <a:pt x="228600" y="114300"/>
                  </a:cubicBezTo>
                  <a:cubicBezTo>
                    <a:pt x="228600" y="177419"/>
                    <a:pt x="177419" y="228600"/>
                    <a:pt x="114300" y="228600"/>
                  </a:cubicBezTo>
                  <a:cubicBezTo>
                    <a:pt x="51181" y="228600"/>
                    <a:pt x="0" y="177419"/>
                    <a:pt x="0" y="114300"/>
                  </a:cubicBezTo>
                  <a:close/>
                </a:path>
              </a:pathLst>
            </a:custGeom>
            <a:solidFill>
              <a:srgbClr val="F59E0B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843088" y="3671888"/>
            <a:ext cx="171450" cy="171450"/>
            <a:chOff x="0" y="0"/>
            <a:chExt cx="228600" cy="2286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cubicBezTo>
                    <a:pt x="177419" y="0"/>
                    <a:pt x="228600" y="51181"/>
                    <a:pt x="228600" y="114300"/>
                  </a:cubicBezTo>
                  <a:cubicBezTo>
                    <a:pt x="228600" y="177419"/>
                    <a:pt x="177419" y="228600"/>
                    <a:pt x="114300" y="228600"/>
                  </a:cubicBezTo>
                  <a:cubicBezTo>
                    <a:pt x="51181" y="228600"/>
                    <a:pt x="0" y="177419"/>
                    <a:pt x="0" y="114300"/>
                  </a:cubicBez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1281324" y="3514725"/>
            <a:ext cx="57150" cy="1371600"/>
            <a:chOff x="0" y="0"/>
            <a:chExt cx="76200" cy="1828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6200" cy="1828800"/>
            </a:xfrm>
            <a:custGeom>
              <a:avLst/>
              <a:gdLst/>
              <a:ahLst/>
              <a:cxnLst/>
              <a:rect r="r" b="b" t="t" l="l"/>
              <a:pathLst>
                <a:path h="18288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828800"/>
                  </a:lnTo>
                  <a:lnTo>
                    <a:pt x="0" y="1828800"/>
                  </a:ln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1281324" y="5114925"/>
            <a:ext cx="57150" cy="1357312"/>
            <a:chOff x="0" y="0"/>
            <a:chExt cx="76200" cy="180975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76200" cy="1809750"/>
            </a:xfrm>
            <a:custGeom>
              <a:avLst/>
              <a:gdLst/>
              <a:ahLst/>
              <a:cxnLst/>
              <a:rect r="r" b="b" t="t" l="l"/>
              <a:pathLst>
                <a:path h="1809750" w="76200">
                  <a:moveTo>
                    <a:pt x="0" y="0"/>
                  </a:moveTo>
                  <a:lnTo>
                    <a:pt x="76200" y="0"/>
                  </a:lnTo>
                  <a:lnTo>
                    <a:pt x="76200" y="1809750"/>
                  </a:lnTo>
                  <a:lnTo>
                    <a:pt x="0" y="1809750"/>
                  </a:ln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281324" y="6700838"/>
            <a:ext cx="57150" cy="1357312"/>
            <a:chOff x="0" y="0"/>
            <a:chExt cx="76200" cy="180975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76200" cy="1809750"/>
            </a:xfrm>
            <a:custGeom>
              <a:avLst/>
              <a:gdLst/>
              <a:ahLst/>
              <a:cxnLst/>
              <a:rect r="r" b="b" t="t" l="l"/>
              <a:pathLst>
                <a:path h="1809750" w="76200">
                  <a:moveTo>
                    <a:pt x="0" y="0"/>
                  </a:moveTo>
                  <a:lnTo>
                    <a:pt x="76200" y="0"/>
                  </a:lnTo>
                  <a:lnTo>
                    <a:pt x="76200" y="1809750"/>
                  </a:lnTo>
                  <a:lnTo>
                    <a:pt x="0" y="1809750"/>
                  </a:lnTo>
                  <a:close/>
                </a:path>
              </a:pathLst>
            </a:custGeom>
            <a:solidFill>
              <a:srgbClr val="DC2626"/>
            </a:solid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914400" y="676275"/>
            <a:ext cx="173736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4. DESENVOLVIMENTO TÉCNICO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14400" y="1028700"/>
            <a:ext cx="12634436" cy="1148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Por Dentro do Código: Base de Dados Simples</a:t>
            </a:r>
          </a:p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(exemplo de codigo dos comentarios de demonstração)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71588" y="4081463"/>
            <a:ext cx="9281074" cy="11435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55"/>
              </a:lnSpc>
            </a:pP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// Uma base de dados simulando umas noticia aí </a:t>
            </a:r>
            <a:r>
              <a:rPr lang="en-US" sz="1237">
                <a:solidFill>
                  <a:srgbClr val="F43F5E"/>
                </a:solidFill>
                <a:latin typeface="Arimo"/>
                <a:ea typeface="Arimo"/>
                <a:cs typeface="Arimo"/>
                <a:sym typeface="Arimo"/>
              </a:rPr>
              <a:t>const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1237">
                <a:solidFill>
                  <a:srgbClr val="38BDF8"/>
                </a:solidFill>
                <a:latin typeface="Arimo"/>
                <a:ea typeface="Arimo"/>
                <a:cs typeface="Arimo"/>
                <a:sym typeface="Arimo"/>
              </a:rPr>
              <a:t>newsDatabase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 = {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"noticia-1"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{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id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"noticia-1"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cat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"Esporte"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title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"Equipe local se prepara..."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icon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"⚽"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rating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F59E0B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section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"esporte"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comments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[ // DESTAQUE: Estrutura de comentário aninhado {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user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"@FutTorcedor01"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stars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"★★★★☆"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text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"Deu pra ver no treino que o ritmo tá bom..."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 } ] },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"noticia-2"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{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id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"noticia-2"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cat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"Mundo"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title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"Cidades discutem soluções..."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icon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"🌐"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rating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F59E0B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section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"mundo"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comments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[ {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user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"@UrbanistaVerde"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stars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"★★☆☆☆"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, </a:t>
            </a:r>
            <a:r>
              <a:rPr lang="en-US" sz="1237">
                <a:solidFill>
                  <a:srgbClr val="F8FAFC"/>
                </a:solidFill>
                <a:latin typeface="Arimo"/>
                <a:ea typeface="Arimo"/>
                <a:cs typeface="Arimo"/>
                <a:sym typeface="Arimo"/>
              </a:rPr>
              <a:t>text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: </a:t>
            </a:r>
            <a:r>
              <a:rPr lang="en-US" sz="1237">
                <a:solidFill>
                  <a:srgbClr val="A3E635"/>
                </a:solidFill>
                <a:latin typeface="Arimo"/>
                <a:ea typeface="Arimo"/>
                <a:cs typeface="Arimo"/>
                <a:sym typeface="Arimo"/>
              </a:rPr>
              <a:t>"Faltou aprofundar sobre transporte..."</a:t>
            </a:r>
            <a:r>
              <a:rPr lang="en-US" sz="1237">
                <a:solidFill>
                  <a:srgbClr val="64748B"/>
                </a:solidFill>
                <a:latin typeface="Arimo"/>
                <a:ea typeface="Arimo"/>
                <a:cs typeface="Arimo"/>
                <a:sym typeface="Arimo"/>
              </a:rPr>
              <a:t> } ] } };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00288" y="3671888"/>
            <a:ext cx="3250406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64748B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database.js — newsDatabase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624224" y="3724275"/>
            <a:ext cx="6663776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1. Objeto JavaScript Constante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624224" y="4081462"/>
            <a:ext cx="5606501" cy="576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Usamos const newsDatabase = {} para criar uma estrutura de dados local fixa.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624224" y="5324475"/>
            <a:ext cx="6663776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2. Chaves e Atributos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1624224" y="5681662"/>
            <a:ext cx="560650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Cada notícia possui um ID único, categoria, título e uma nota (rating).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624224" y="6910388"/>
            <a:ext cx="6663776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3. Arrays de Comentários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624224" y="7267575"/>
            <a:ext cx="5606501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Dentro de cada notícia, há uma lista de avaliações de usuários simulados.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85825" y="1943100"/>
            <a:ext cx="5391074" cy="1743075"/>
            <a:chOff x="0" y="0"/>
            <a:chExt cx="7188098" cy="23241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188200" cy="2324100"/>
            </a:xfrm>
            <a:custGeom>
              <a:avLst/>
              <a:gdLst/>
              <a:ahLst/>
              <a:cxnLst/>
              <a:rect r="r" b="b" t="t" l="l"/>
              <a:pathLst>
                <a:path h="2324100" w="7188200">
                  <a:moveTo>
                    <a:pt x="0" y="157607"/>
                  </a:moveTo>
                  <a:cubicBezTo>
                    <a:pt x="0" y="70485"/>
                    <a:pt x="70485" y="0"/>
                    <a:pt x="157607" y="0"/>
                  </a:cubicBezTo>
                  <a:lnTo>
                    <a:pt x="7030593" y="0"/>
                  </a:lnTo>
                  <a:cubicBezTo>
                    <a:pt x="7117588" y="0"/>
                    <a:pt x="7188200" y="70485"/>
                    <a:pt x="7188200" y="157607"/>
                  </a:cubicBezTo>
                  <a:lnTo>
                    <a:pt x="7188200" y="2166493"/>
                  </a:lnTo>
                  <a:cubicBezTo>
                    <a:pt x="7188200" y="2253488"/>
                    <a:pt x="7117715" y="2324100"/>
                    <a:pt x="7030593" y="2324100"/>
                  </a:cubicBezTo>
                  <a:lnTo>
                    <a:pt x="157607" y="2324100"/>
                  </a:lnTo>
                  <a:cubicBezTo>
                    <a:pt x="70485" y="2324100"/>
                    <a:pt x="0" y="2253615"/>
                    <a:pt x="0" y="2166493"/>
                  </a:cubicBezTo>
                  <a:close/>
                </a:path>
              </a:pathLst>
            </a:custGeom>
            <a:solidFill>
              <a:srgbClr val="F8FAFC"/>
            </a:solidFill>
            <a:ln w="57150" cap="sq">
              <a:solidFill>
                <a:srgbClr val="3B82F6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3643312"/>
            <a:ext cx="5333924" cy="14288"/>
            <a:chOff x="0" y="0"/>
            <a:chExt cx="7111898" cy="190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111873" cy="19050"/>
            </a:xfrm>
            <a:custGeom>
              <a:avLst/>
              <a:gdLst/>
              <a:ahLst/>
              <a:cxnLst/>
              <a:rect r="r" b="b" t="t" l="l"/>
              <a:pathLst>
                <a:path h="19050" w="7111873">
                  <a:moveTo>
                    <a:pt x="0" y="0"/>
                  </a:moveTo>
                  <a:lnTo>
                    <a:pt x="7111873" y="0"/>
                  </a:lnTo>
                  <a:lnTo>
                    <a:pt x="711187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14400" y="1971675"/>
            <a:ext cx="5333924" cy="57150"/>
            <a:chOff x="0" y="0"/>
            <a:chExt cx="7111898" cy="76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7111873" cy="76200"/>
            </a:xfrm>
            <a:custGeom>
              <a:avLst/>
              <a:gdLst/>
              <a:ahLst/>
              <a:cxnLst/>
              <a:rect r="r" b="b" t="t" l="l"/>
              <a:pathLst>
                <a:path h="76200" w="7111873">
                  <a:moveTo>
                    <a:pt x="0" y="0"/>
                  </a:moveTo>
                  <a:lnTo>
                    <a:pt x="7111873" y="0"/>
                  </a:lnTo>
                  <a:lnTo>
                    <a:pt x="711187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3B82F6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14400" y="1971675"/>
            <a:ext cx="14288" cy="1685925"/>
            <a:chOff x="0" y="0"/>
            <a:chExt cx="19050" cy="22479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" cy="2247900"/>
            </a:xfrm>
            <a:custGeom>
              <a:avLst/>
              <a:gdLst/>
              <a:ahLst/>
              <a:cxnLst/>
              <a:rect r="r" b="b" t="t" l="l"/>
              <a:pathLst>
                <a:path h="2247900" w="19050">
                  <a:moveTo>
                    <a:pt x="0" y="0"/>
                  </a:moveTo>
                  <a:lnTo>
                    <a:pt x="19050" y="0"/>
                  </a:lnTo>
                  <a:lnTo>
                    <a:pt x="1905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6234036" y="1971675"/>
            <a:ext cx="14288" cy="1685925"/>
            <a:chOff x="0" y="0"/>
            <a:chExt cx="19050" cy="22479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050" cy="2247900"/>
            </a:xfrm>
            <a:custGeom>
              <a:avLst/>
              <a:gdLst/>
              <a:ahLst/>
              <a:cxnLst/>
              <a:rect r="r" b="b" t="t" l="l"/>
              <a:pathLst>
                <a:path h="2247900" w="19050">
                  <a:moveTo>
                    <a:pt x="0" y="0"/>
                  </a:moveTo>
                  <a:lnTo>
                    <a:pt x="19050" y="0"/>
                  </a:lnTo>
                  <a:lnTo>
                    <a:pt x="1905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6448349" y="1943100"/>
            <a:ext cx="5391074" cy="1743075"/>
            <a:chOff x="0" y="0"/>
            <a:chExt cx="7188098" cy="23241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7188200" cy="2324100"/>
            </a:xfrm>
            <a:custGeom>
              <a:avLst/>
              <a:gdLst/>
              <a:ahLst/>
              <a:cxnLst/>
              <a:rect r="r" b="b" t="t" l="l"/>
              <a:pathLst>
                <a:path h="2324100" w="7188200">
                  <a:moveTo>
                    <a:pt x="0" y="157607"/>
                  </a:moveTo>
                  <a:cubicBezTo>
                    <a:pt x="0" y="70485"/>
                    <a:pt x="70485" y="0"/>
                    <a:pt x="157607" y="0"/>
                  </a:cubicBezTo>
                  <a:lnTo>
                    <a:pt x="7030593" y="0"/>
                  </a:lnTo>
                  <a:cubicBezTo>
                    <a:pt x="7117588" y="0"/>
                    <a:pt x="7188200" y="70485"/>
                    <a:pt x="7188200" y="157607"/>
                  </a:cubicBezTo>
                  <a:lnTo>
                    <a:pt x="7188200" y="2166493"/>
                  </a:lnTo>
                  <a:cubicBezTo>
                    <a:pt x="7188200" y="2253488"/>
                    <a:pt x="7117715" y="2324100"/>
                    <a:pt x="7030593" y="2324100"/>
                  </a:cubicBezTo>
                  <a:lnTo>
                    <a:pt x="157607" y="2324100"/>
                  </a:lnTo>
                  <a:cubicBezTo>
                    <a:pt x="70485" y="2324100"/>
                    <a:pt x="0" y="2253615"/>
                    <a:pt x="0" y="2166493"/>
                  </a:cubicBezTo>
                  <a:close/>
                </a:path>
              </a:pathLst>
            </a:custGeom>
            <a:solidFill>
              <a:srgbClr val="F8FAFC"/>
            </a:solidFill>
            <a:ln w="57150" cap="sq">
              <a:solidFill>
                <a:srgbClr val="F59E0B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6476924" y="3643312"/>
            <a:ext cx="5333924" cy="14288"/>
            <a:chOff x="0" y="0"/>
            <a:chExt cx="7111898" cy="1905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7111873" cy="19050"/>
            </a:xfrm>
            <a:custGeom>
              <a:avLst/>
              <a:gdLst/>
              <a:ahLst/>
              <a:cxnLst/>
              <a:rect r="r" b="b" t="t" l="l"/>
              <a:pathLst>
                <a:path h="19050" w="7111873">
                  <a:moveTo>
                    <a:pt x="0" y="0"/>
                  </a:moveTo>
                  <a:lnTo>
                    <a:pt x="7111873" y="0"/>
                  </a:lnTo>
                  <a:lnTo>
                    <a:pt x="711187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6476924" y="1971675"/>
            <a:ext cx="5333924" cy="57150"/>
            <a:chOff x="0" y="0"/>
            <a:chExt cx="7111898" cy="762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7111873" cy="76200"/>
            </a:xfrm>
            <a:custGeom>
              <a:avLst/>
              <a:gdLst/>
              <a:ahLst/>
              <a:cxnLst/>
              <a:rect r="r" b="b" t="t" l="l"/>
              <a:pathLst>
                <a:path h="76200" w="7111873">
                  <a:moveTo>
                    <a:pt x="0" y="0"/>
                  </a:moveTo>
                  <a:lnTo>
                    <a:pt x="7111873" y="0"/>
                  </a:lnTo>
                  <a:lnTo>
                    <a:pt x="711187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9E0B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6476924" y="1971675"/>
            <a:ext cx="14288" cy="1685925"/>
            <a:chOff x="0" y="0"/>
            <a:chExt cx="19050" cy="22479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9050" cy="2247900"/>
            </a:xfrm>
            <a:custGeom>
              <a:avLst/>
              <a:gdLst/>
              <a:ahLst/>
              <a:cxnLst/>
              <a:rect r="r" b="b" t="t" l="l"/>
              <a:pathLst>
                <a:path h="2247900" w="19050">
                  <a:moveTo>
                    <a:pt x="0" y="0"/>
                  </a:moveTo>
                  <a:lnTo>
                    <a:pt x="19050" y="0"/>
                  </a:lnTo>
                  <a:lnTo>
                    <a:pt x="1905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1796560" y="1971675"/>
            <a:ext cx="14288" cy="1685925"/>
            <a:chOff x="0" y="0"/>
            <a:chExt cx="19050" cy="22479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9050" cy="2247900"/>
            </a:xfrm>
            <a:custGeom>
              <a:avLst/>
              <a:gdLst/>
              <a:ahLst/>
              <a:cxnLst/>
              <a:rect r="r" b="b" t="t" l="l"/>
              <a:pathLst>
                <a:path h="2247900" w="19050">
                  <a:moveTo>
                    <a:pt x="0" y="0"/>
                  </a:moveTo>
                  <a:lnTo>
                    <a:pt x="19050" y="0"/>
                  </a:lnTo>
                  <a:lnTo>
                    <a:pt x="1905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2010873" y="1943100"/>
            <a:ext cx="5391074" cy="1743075"/>
            <a:chOff x="0" y="0"/>
            <a:chExt cx="7188098" cy="23241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188200" cy="2324100"/>
            </a:xfrm>
            <a:custGeom>
              <a:avLst/>
              <a:gdLst/>
              <a:ahLst/>
              <a:cxnLst/>
              <a:rect r="r" b="b" t="t" l="l"/>
              <a:pathLst>
                <a:path h="2324100" w="7188200">
                  <a:moveTo>
                    <a:pt x="0" y="157607"/>
                  </a:moveTo>
                  <a:cubicBezTo>
                    <a:pt x="0" y="70485"/>
                    <a:pt x="70485" y="0"/>
                    <a:pt x="157607" y="0"/>
                  </a:cubicBezTo>
                  <a:lnTo>
                    <a:pt x="7030593" y="0"/>
                  </a:lnTo>
                  <a:cubicBezTo>
                    <a:pt x="7117588" y="0"/>
                    <a:pt x="7188200" y="70485"/>
                    <a:pt x="7188200" y="157607"/>
                  </a:cubicBezTo>
                  <a:lnTo>
                    <a:pt x="7188200" y="2166493"/>
                  </a:lnTo>
                  <a:cubicBezTo>
                    <a:pt x="7188200" y="2253488"/>
                    <a:pt x="7117715" y="2324100"/>
                    <a:pt x="7030593" y="2324100"/>
                  </a:cubicBezTo>
                  <a:lnTo>
                    <a:pt x="157607" y="2324100"/>
                  </a:lnTo>
                  <a:cubicBezTo>
                    <a:pt x="70485" y="2324100"/>
                    <a:pt x="0" y="2253615"/>
                    <a:pt x="0" y="2166493"/>
                  </a:cubicBezTo>
                  <a:close/>
                </a:path>
              </a:pathLst>
            </a:custGeom>
            <a:solidFill>
              <a:srgbClr val="F8FAFC"/>
            </a:solidFill>
            <a:ln w="57150" cap="sq">
              <a:solidFill>
                <a:srgbClr val="10B981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2039448" y="3643312"/>
            <a:ext cx="5333924" cy="14288"/>
            <a:chOff x="0" y="0"/>
            <a:chExt cx="7111898" cy="1905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7111873" cy="19050"/>
            </a:xfrm>
            <a:custGeom>
              <a:avLst/>
              <a:gdLst/>
              <a:ahLst/>
              <a:cxnLst/>
              <a:rect r="r" b="b" t="t" l="l"/>
              <a:pathLst>
                <a:path h="19050" w="7111873">
                  <a:moveTo>
                    <a:pt x="0" y="0"/>
                  </a:moveTo>
                  <a:lnTo>
                    <a:pt x="7111873" y="0"/>
                  </a:lnTo>
                  <a:lnTo>
                    <a:pt x="7111873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2039448" y="1971675"/>
            <a:ext cx="5333924" cy="57150"/>
            <a:chOff x="0" y="0"/>
            <a:chExt cx="7111898" cy="76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111873" cy="76200"/>
            </a:xfrm>
            <a:custGeom>
              <a:avLst/>
              <a:gdLst/>
              <a:ahLst/>
              <a:cxnLst/>
              <a:rect r="r" b="b" t="t" l="l"/>
              <a:pathLst>
                <a:path h="76200" w="7111873">
                  <a:moveTo>
                    <a:pt x="0" y="0"/>
                  </a:moveTo>
                  <a:lnTo>
                    <a:pt x="7111873" y="0"/>
                  </a:lnTo>
                  <a:lnTo>
                    <a:pt x="7111873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10B981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2039448" y="1971675"/>
            <a:ext cx="14288" cy="1685925"/>
            <a:chOff x="0" y="0"/>
            <a:chExt cx="19050" cy="22479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9050" cy="2247900"/>
            </a:xfrm>
            <a:custGeom>
              <a:avLst/>
              <a:gdLst/>
              <a:ahLst/>
              <a:cxnLst/>
              <a:rect r="r" b="b" t="t" l="l"/>
              <a:pathLst>
                <a:path h="2247900" w="19050">
                  <a:moveTo>
                    <a:pt x="0" y="0"/>
                  </a:moveTo>
                  <a:lnTo>
                    <a:pt x="19050" y="0"/>
                  </a:lnTo>
                  <a:lnTo>
                    <a:pt x="1905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7359093" y="1971675"/>
            <a:ext cx="14288" cy="1685925"/>
            <a:chOff x="0" y="0"/>
            <a:chExt cx="19050" cy="22479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9050" cy="2247900"/>
            </a:xfrm>
            <a:custGeom>
              <a:avLst/>
              <a:gdLst/>
              <a:ahLst/>
              <a:cxnLst/>
              <a:rect r="r" b="b" t="t" l="l"/>
              <a:pathLst>
                <a:path h="2247900" w="19050">
                  <a:moveTo>
                    <a:pt x="0" y="0"/>
                  </a:moveTo>
                  <a:lnTo>
                    <a:pt x="19050" y="0"/>
                  </a:lnTo>
                  <a:lnTo>
                    <a:pt x="19050" y="2247900"/>
                  </a:lnTo>
                  <a:lnTo>
                    <a:pt x="0" y="2247900"/>
                  </a:lnTo>
                  <a:close/>
                </a:path>
              </a:pathLst>
            </a:custGeom>
            <a:solidFill>
              <a:srgbClr val="CBD5E1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907256" y="5507831"/>
            <a:ext cx="8072438" cy="1700212"/>
            <a:chOff x="0" y="0"/>
            <a:chExt cx="10763250" cy="226695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0763250" cy="2266950"/>
            </a:xfrm>
            <a:custGeom>
              <a:avLst/>
              <a:gdLst/>
              <a:ahLst/>
              <a:cxnLst/>
              <a:rect r="r" b="b" t="t" l="l"/>
              <a:pathLst>
                <a:path h="2266950" w="10763250">
                  <a:moveTo>
                    <a:pt x="0" y="230505"/>
                  </a:moveTo>
                  <a:cubicBezTo>
                    <a:pt x="0" y="103251"/>
                    <a:pt x="103251" y="0"/>
                    <a:pt x="230505" y="0"/>
                  </a:cubicBezTo>
                  <a:lnTo>
                    <a:pt x="10532745" y="0"/>
                  </a:lnTo>
                  <a:cubicBezTo>
                    <a:pt x="10659999" y="0"/>
                    <a:pt x="10763250" y="103251"/>
                    <a:pt x="10763250" y="230505"/>
                  </a:cubicBezTo>
                  <a:lnTo>
                    <a:pt x="10763250" y="2036445"/>
                  </a:lnTo>
                  <a:cubicBezTo>
                    <a:pt x="10763250" y="2163699"/>
                    <a:pt x="10659999" y="2266950"/>
                    <a:pt x="10532745" y="2266950"/>
                  </a:cubicBezTo>
                  <a:lnTo>
                    <a:pt x="230505" y="2266950"/>
                  </a:lnTo>
                  <a:cubicBezTo>
                    <a:pt x="103251" y="2266950"/>
                    <a:pt x="0" y="2163699"/>
                    <a:pt x="0" y="2036445"/>
                  </a:cubicBezTo>
                  <a:close/>
                </a:path>
              </a:pathLst>
            </a:custGeom>
            <a:solidFill>
              <a:srgbClr val="FEF2F2"/>
            </a:solidFill>
            <a:ln w="14288" cap="sq">
              <a:solidFill>
                <a:srgbClr val="FECAC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9308306" y="5507831"/>
            <a:ext cx="8072438" cy="1700212"/>
            <a:chOff x="0" y="0"/>
            <a:chExt cx="10763250" cy="226695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763250" cy="2266950"/>
            </a:xfrm>
            <a:custGeom>
              <a:avLst/>
              <a:gdLst/>
              <a:ahLst/>
              <a:cxnLst/>
              <a:rect r="r" b="b" t="t" l="l"/>
              <a:pathLst>
                <a:path h="2266950" w="10763250">
                  <a:moveTo>
                    <a:pt x="0" y="230505"/>
                  </a:moveTo>
                  <a:cubicBezTo>
                    <a:pt x="0" y="103251"/>
                    <a:pt x="103251" y="0"/>
                    <a:pt x="230505" y="0"/>
                  </a:cubicBezTo>
                  <a:lnTo>
                    <a:pt x="10532745" y="0"/>
                  </a:lnTo>
                  <a:cubicBezTo>
                    <a:pt x="10659999" y="0"/>
                    <a:pt x="10763250" y="103251"/>
                    <a:pt x="10763250" y="230505"/>
                  </a:cubicBezTo>
                  <a:lnTo>
                    <a:pt x="10763250" y="2036445"/>
                  </a:lnTo>
                  <a:cubicBezTo>
                    <a:pt x="10763250" y="2163699"/>
                    <a:pt x="10659999" y="2266950"/>
                    <a:pt x="10532745" y="2266950"/>
                  </a:cubicBezTo>
                  <a:lnTo>
                    <a:pt x="230505" y="2266950"/>
                  </a:lnTo>
                  <a:cubicBezTo>
                    <a:pt x="103251" y="2266950"/>
                    <a:pt x="0" y="2163699"/>
                    <a:pt x="0" y="2036445"/>
                  </a:cubicBezTo>
                  <a:close/>
                </a:path>
              </a:pathLst>
            </a:custGeom>
            <a:solidFill>
              <a:srgbClr val="F0FDF4"/>
            </a:solidFill>
            <a:ln w="14288" cap="sq">
              <a:solidFill>
                <a:srgbClr val="BBF7D0"/>
              </a:solidFill>
              <a:prstDash val="solid"/>
              <a:miter/>
            </a:ln>
          </p:spPr>
        </p:sp>
      </p:grpSp>
      <p:sp>
        <p:nvSpPr>
          <p:cNvPr name="TextBox 40" id="40"/>
          <p:cNvSpPr txBox="true"/>
          <p:nvPr/>
        </p:nvSpPr>
        <p:spPr>
          <a:xfrm rot="0">
            <a:off x="914400" y="676275"/>
            <a:ext cx="173736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5. METODOLOGIA DE TRABALHO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914400" y="1028700"/>
            <a:ext cx="173736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Como Trabalhamos: Sprints &amp; GitHub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200150" y="2238375"/>
            <a:ext cx="4905299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2563EB"/>
                </a:solidFill>
                <a:latin typeface="Arimo Bold"/>
                <a:ea typeface="Arimo Bold"/>
                <a:cs typeface="Arimo Bold"/>
                <a:sym typeface="Arimo Bold"/>
              </a:rPr>
              <a:t>Sprint 1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6762674" y="2238375"/>
            <a:ext cx="4905299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D97706"/>
                </a:solidFill>
                <a:latin typeface="Arimo Bold"/>
                <a:ea typeface="Arimo Bold"/>
                <a:cs typeface="Arimo Bold"/>
                <a:sym typeface="Arimo Bold"/>
              </a:rPr>
              <a:t>Sprint 2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2325198" y="2238375"/>
            <a:ext cx="4905299" cy="1133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059669"/>
                </a:solidFill>
                <a:latin typeface="Arimo Bold"/>
                <a:ea typeface="Arimo Bold"/>
                <a:cs typeface="Arimo Bold"/>
                <a:sym typeface="Arimo Bold"/>
              </a:rPr>
              <a:t>Sprint 3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14438" y="2690813"/>
            <a:ext cx="6213177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Prototipagem &amp; Layout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214438" y="3090863"/>
            <a:ext cx="5917311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Criação da identidade visual e wireframe no Figma.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6776961" y="2690813"/>
            <a:ext cx="6213177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Replanejamento Mobile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6776961" y="3090863"/>
            <a:ext cx="5917311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Ajustes de responsividade para telas pequenas.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12339485" y="2690813"/>
            <a:ext cx="5948515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5"/>
              </a:lnSpc>
            </a:pPr>
            <a:r>
              <a:rPr lang="en-US" sz="1912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Testes &amp; Publicação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2339485" y="3090863"/>
            <a:ext cx="5917311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>
                <a:solidFill>
                  <a:srgbClr val="475569"/>
                </a:solidFill>
                <a:latin typeface="Arimo"/>
                <a:ea typeface="Arimo"/>
                <a:cs typeface="Arimo"/>
                <a:sym typeface="Arimo"/>
              </a:rPr>
              <a:t>Deploy no GitHub Pages e documentação técnica.</a:t>
            </a:r>
          </a:p>
        </p:txBody>
      </p:sp>
      <p:sp>
        <p:nvSpPr>
          <p:cNvPr name="TextBox 51" id="51"/>
          <p:cNvSpPr txBox="true"/>
          <p:nvPr/>
        </p:nvSpPr>
        <p:spPr>
          <a:xfrm rot="0">
            <a:off x="1271588" y="5862637"/>
            <a:ext cx="917971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MAIOR DIFICULDADE ENCONTRADA</a:t>
            </a:r>
          </a:p>
        </p:txBody>
      </p:sp>
      <p:sp>
        <p:nvSpPr>
          <p:cNvPr name="TextBox 52" id="52"/>
          <p:cNvSpPr txBox="true"/>
          <p:nvPr/>
        </p:nvSpPr>
        <p:spPr>
          <a:xfrm rot="0">
            <a:off x="1271588" y="6224588"/>
            <a:ext cx="7486650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Lentidão no carregamento das imagens de capa em conexões móveis.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9672638" y="5862637"/>
            <a:ext cx="8615362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16A34A"/>
                </a:solidFill>
                <a:latin typeface="Arimo Bold"/>
                <a:ea typeface="Arimo Bold"/>
                <a:cs typeface="Arimo Bold"/>
                <a:sym typeface="Arimo Bold"/>
              </a:rPr>
              <a:t>COMO RESOLVEMOS</a:t>
            </a:r>
          </a:p>
        </p:txBody>
      </p:sp>
      <p:sp>
        <p:nvSpPr>
          <p:cNvPr name="TextBox 54" id="54"/>
          <p:cNvSpPr txBox="true"/>
          <p:nvPr/>
        </p:nvSpPr>
        <p:spPr>
          <a:xfrm rot="0">
            <a:off x="9672638" y="6224588"/>
            <a:ext cx="7486650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1E293B"/>
                </a:solidFill>
                <a:latin typeface="Arimo Bold"/>
                <a:ea typeface="Arimo Bold"/>
                <a:cs typeface="Arimo Bold"/>
                <a:sym typeface="Arimo Bold"/>
              </a:rPr>
              <a:t>Implementamos lazy-loading nativo e otimizamos as imagens no formato WebP.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07256" y="1964531"/>
            <a:ext cx="16473488" cy="1400175"/>
            <a:chOff x="0" y="0"/>
            <a:chExt cx="21964650" cy="1866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64650" cy="1866900"/>
            </a:xfrm>
            <a:custGeom>
              <a:avLst/>
              <a:gdLst/>
              <a:ahLst/>
              <a:cxnLst/>
              <a:rect r="r" b="b" t="t" l="l"/>
              <a:pathLst>
                <a:path h="1866900" w="21964650">
                  <a:moveTo>
                    <a:pt x="0" y="192405"/>
                  </a:moveTo>
                  <a:cubicBezTo>
                    <a:pt x="0" y="86106"/>
                    <a:pt x="86106" y="0"/>
                    <a:pt x="192405" y="0"/>
                  </a:cubicBezTo>
                  <a:lnTo>
                    <a:pt x="21772245" y="0"/>
                  </a:lnTo>
                  <a:cubicBezTo>
                    <a:pt x="21878544" y="0"/>
                    <a:pt x="21964650" y="86106"/>
                    <a:pt x="21964650" y="192405"/>
                  </a:cubicBezTo>
                  <a:lnTo>
                    <a:pt x="21964650" y="1674495"/>
                  </a:lnTo>
                  <a:cubicBezTo>
                    <a:pt x="21964650" y="1780794"/>
                    <a:pt x="21878544" y="1866900"/>
                    <a:pt x="21772245" y="1866900"/>
                  </a:cubicBezTo>
                  <a:lnTo>
                    <a:pt x="192405" y="1866900"/>
                  </a:lnTo>
                  <a:cubicBezTo>
                    <a:pt x="86106" y="1866900"/>
                    <a:pt x="0" y="1780794"/>
                    <a:pt x="0" y="1674495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94A3B8"/>
              </a:solidFill>
              <a:prstDash val="solid"/>
              <a:miter/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914400" y="8543925"/>
            <a:ext cx="16459200" cy="1057275"/>
            <a:chOff x="0" y="0"/>
            <a:chExt cx="21945600" cy="14097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1945600" cy="1409700"/>
            </a:xfrm>
            <a:custGeom>
              <a:avLst/>
              <a:gdLst/>
              <a:ahLst/>
              <a:cxnLst/>
              <a:rect r="r" b="b" t="t" l="l"/>
              <a:pathLst>
                <a:path h="1409700" w="21945600">
                  <a:moveTo>
                    <a:pt x="0" y="0"/>
                  </a:moveTo>
                  <a:lnTo>
                    <a:pt x="21945600" y="0"/>
                  </a:lnTo>
                  <a:lnTo>
                    <a:pt x="21945600" y="1409700"/>
                  </a:lnTo>
                  <a:lnTo>
                    <a:pt x="0" y="1409700"/>
                  </a:lnTo>
                  <a:close/>
                </a:path>
              </a:pathLst>
            </a:custGeom>
            <a:solidFill>
              <a:srgbClr val="F8FAFC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07256" y="5093494"/>
            <a:ext cx="8072438" cy="1771650"/>
            <a:chOff x="0" y="0"/>
            <a:chExt cx="10763250" cy="23622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763250" cy="2362200"/>
            </a:xfrm>
            <a:custGeom>
              <a:avLst/>
              <a:gdLst/>
              <a:ahLst/>
              <a:cxnLst/>
              <a:rect r="r" b="b" t="t" l="l"/>
              <a:pathLst>
                <a:path h="2362200" w="10763250">
                  <a:moveTo>
                    <a:pt x="0" y="230505"/>
                  </a:moveTo>
                  <a:cubicBezTo>
                    <a:pt x="0" y="103124"/>
                    <a:pt x="103124" y="0"/>
                    <a:pt x="230505" y="0"/>
                  </a:cubicBezTo>
                  <a:lnTo>
                    <a:pt x="10532745" y="0"/>
                  </a:lnTo>
                  <a:cubicBezTo>
                    <a:pt x="10659999" y="0"/>
                    <a:pt x="10763250" y="103124"/>
                    <a:pt x="10763250" y="230505"/>
                  </a:cubicBezTo>
                  <a:lnTo>
                    <a:pt x="10763250" y="2131695"/>
                  </a:lnTo>
                  <a:cubicBezTo>
                    <a:pt x="10763250" y="2258949"/>
                    <a:pt x="10660126" y="2362200"/>
                    <a:pt x="10532745" y="2362200"/>
                  </a:cubicBezTo>
                  <a:lnTo>
                    <a:pt x="230505" y="2362200"/>
                  </a:lnTo>
                  <a:cubicBezTo>
                    <a:pt x="103124" y="2362200"/>
                    <a:pt x="0" y="2259076"/>
                    <a:pt x="0" y="2131695"/>
                  </a:cubicBezTo>
                  <a:close/>
                </a:path>
              </a:pathLst>
            </a:custGeom>
            <a:solidFill>
              <a:srgbClr val="F0FDF4"/>
            </a:solidFill>
            <a:ln w="14288" cap="sq">
              <a:solidFill>
                <a:srgbClr val="BBF7D0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308306" y="5093494"/>
            <a:ext cx="8072438" cy="1771650"/>
            <a:chOff x="0" y="0"/>
            <a:chExt cx="10763250" cy="2362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763250" cy="2362200"/>
            </a:xfrm>
            <a:custGeom>
              <a:avLst/>
              <a:gdLst/>
              <a:ahLst/>
              <a:cxnLst/>
              <a:rect r="r" b="b" t="t" l="l"/>
              <a:pathLst>
                <a:path h="2362200" w="10763250">
                  <a:moveTo>
                    <a:pt x="0" y="230505"/>
                  </a:moveTo>
                  <a:cubicBezTo>
                    <a:pt x="0" y="103124"/>
                    <a:pt x="103124" y="0"/>
                    <a:pt x="230505" y="0"/>
                  </a:cubicBezTo>
                  <a:lnTo>
                    <a:pt x="10532745" y="0"/>
                  </a:lnTo>
                  <a:cubicBezTo>
                    <a:pt x="10659999" y="0"/>
                    <a:pt x="10763250" y="103124"/>
                    <a:pt x="10763250" y="230505"/>
                  </a:cubicBezTo>
                  <a:lnTo>
                    <a:pt x="10763250" y="2131695"/>
                  </a:lnTo>
                  <a:cubicBezTo>
                    <a:pt x="10763250" y="2258949"/>
                    <a:pt x="10660126" y="2362200"/>
                    <a:pt x="10532745" y="2362200"/>
                  </a:cubicBezTo>
                  <a:lnTo>
                    <a:pt x="230505" y="2362200"/>
                  </a:lnTo>
                  <a:cubicBezTo>
                    <a:pt x="103124" y="2362200"/>
                    <a:pt x="0" y="2259076"/>
                    <a:pt x="0" y="2131695"/>
                  </a:cubicBezTo>
                  <a:close/>
                </a:path>
              </a:pathLst>
            </a:custGeom>
            <a:solidFill>
              <a:srgbClr val="FEF2F2"/>
            </a:solidFill>
            <a:ln w="14288" cap="sq">
              <a:solidFill>
                <a:srgbClr val="FECACA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914400" y="8543925"/>
            <a:ext cx="57150" cy="1057275"/>
            <a:chOff x="0" y="0"/>
            <a:chExt cx="76200" cy="14097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6200" cy="1409700"/>
            </a:xfrm>
            <a:custGeom>
              <a:avLst/>
              <a:gdLst/>
              <a:ahLst/>
              <a:cxnLst/>
              <a:rect r="r" b="b" t="t" l="l"/>
              <a:pathLst>
                <a:path h="1409700" w="76200">
                  <a:moveTo>
                    <a:pt x="0" y="0"/>
                  </a:moveTo>
                  <a:lnTo>
                    <a:pt x="76200" y="0"/>
                  </a:lnTo>
                  <a:lnTo>
                    <a:pt x="76200" y="1409700"/>
                  </a:lnTo>
                  <a:lnTo>
                    <a:pt x="0" y="1409700"/>
                  </a:lnTo>
                  <a:close/>
                </a:path>
              </a:pathLst>
            </a:custGeom>
            <a:solidFill>
              <a:srgbClr val="DC2626"/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1271588" y="5493544"/>
            <a:ext cx="257175" cy="257175"/>
            <a:chOff x="0" y="0"/>
            <a:chExt cx="342900" cy="342900"/>
          </a:xfrm>
        </p:grpSpPr>
        <p:sp>
          <p:nvSpPr>
            <p:cNvPr name="Freeform 17" id="17" descr="image.png"/>
            <p:cNvSpPr/>
            <p:nvPr/>
          </p:nvSpPr>
          <p:spPr>
            <a:xfrm flipH="false" flipV="false" rot="0">
              <a:off x="0" y="0"/>
              <a:ext cx="342900" cy="342900"/>
            </a:xfrm>
            <a:custGeom>
              <a:avLst/>
              <a:gdLst/>
              <a:ahLst/>
              <a:cxnLst/>
              <a:rect r="r" b="b" t="t" l="l"/>
              <a:pathLst>
                <a:path h="342900" w="342900">
                  <a:moveTo>
                    <a:pt x="0" y="0"/>
                  </a:moveTo>
                  <a:lnTo>
                    <a:pt x="342900" y="0"/>
                  </a:lnTo>
                  <a:lnTo>
                    <a:pt x="342900" y="342900"/>
                  </a:lnTo>
                  <a:lnTo>
                    <a:pt x="0" y="34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777" r="0" b="-2777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9672638" y="5493544"/>
            <a:ext cx="257175" cy="257175"/>
            <a:chOff x="0" y="0"/>
            <a:chExt cx="342900" cy="342900"/>
          </a:xfrm>
        </p:grpSpPr>
        <p:sp>
          <p:nvSpPr>
            <p:cNvPr name="Freeform 19" id="19" descr="image.png"/>
            <p:cNvSpPr/>
            <p:nvPr/>
          </p:nvSpPr>
          <p:spPr>
            <a:xfrm flipH="false" flipV="false" rot="0">
              <a:off x="0" y="0"/>
              <a:ext cx="342900" cy="342900"/>
            </a:xfrm>
            <a:custGeom>
              <a:avLst/>
              <a:gdLst/>
              <a:ahLst/>
              <a:cxnLst/>
              <a:rect r="r" b="b" t="t" l="l"/>
              <a:pathLst>
                <a:path h="342900" w="342900">
                  <a:moveTo>
                    <a:pt x="0" y="0"/>
                  </a:moveTo>
                  <a:lnTo>
                    <a:pt x="342900" y="0"/>
                  </a:lnTo>
                  <a:lnTo>
                    <a:pt x="342900" y="342900"/>
                  </a:lnTo>
                  <a:lnTo>
                    <a:pt x="0" y="34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777" r="0" b="-2777"/>
              </a:stretch>
            </a:blip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914400" y="676275"/>
            <a:ext cx="173736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6. USO RESPONSÁVEL DE IA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14400" y="1028700"/>
            <a:ext cx="173736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Bastidores: Como Usamos Inteligência Artificial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71588" y="2224088"/>
            <a:ext cx="17016412" cy="2333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true">
                <a:solidFill>
                  <a:srgbClr val="64748B"/>
                </a:solidFill>
                <a:latin typeface="Arimo Bold"/>
                <a:ea typeface="Arimo Bold"/>
                <a:cs typeface="Arimo Bold"/>
                <a:sym typeface="Arimo Bold"/>
              </a:rPr>
              <a:t>PROMPT REAL DO DIÁRIO DE BORDO: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71588" y="2505075"/>
            <a:ext cx="1588770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>
                <a:solidFill>
                  <a:srgbClr val="1E293B"/>
                </a:solidFill>
                <a:latin typeface="Merriweather"/>
                <a:ea typeface="Merriweather"/>
                <a:cs typeface="Merriweather"/>
                <a:sym typeface="Merriweather"/>
              </a:rPr>
              <a:t>"Atue como desenvolvedor front-end. Crie uma estrutura HTML semântica para um card de notícia com tag de categoria em vermelho e contador de tempo de leitura."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14450" y="8782050"/>
            <a:ext cx="15859125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true">
                <a:solidFill>
                  <a:srgbClr val="0F172A"/>
                </a:solidFill>
                <a:latin typeface="Arimo Bold"/>
                <a:ea typeface="Arimo Bold"/>
                <a:cs typeface="Arimo Bold"/>
                <a:sym typeface="Arimo Bold"/>
              </a:rPr>
              <a:t>O que mudamos &amp; aprendemos:</a:t>
            </a:r>
            <a:r>
              <a:rPr lang="en-US" sz="1687">
                <a:solidFill>
                  <a:srgbClr val="0F172A"/>
                </a:solidFill>
                <a:latin typeface="Arimo"/>
                <a:ea typeface="Arimo"/>
                <a:cs typeface="Arimo"/>
                <a:sym typeface="Arimo"/>
              </a:rPr>
              <a:t> Reescrevemos as regras usando CSS Flexbox moderno e aprendemos a validar criticamente qualquer código sugerido por IA.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71588" y="5938838"/>
            <a:ext cx="7486650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true">
                <a:solidFill>
                  <a:srgbClr val="166534"/>
                </a:solidFill>
                <a:latin typeface="Arimo Bold"/>
                <a:ea typeface="Arimo Bold"/>
                <a:cs typeface="Arimo Bold"/>
                <a:sym typeface="Arimo Bold"/>
              </a:rPr>
              <a:t>Acelerou a criação da estrutura de marcação semântica e deu ideias para organização das tags de categoria.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672638" y="5938838"/>
            <a:ext cx="7486650" cy="561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 b="true">
                <a:solidFill>
                  <a:srgbClr val="991B1B"/>
                </a:solidFill>
                <a:latin typeface="Arimo Bold"/>
                <a:ea typeface="Arimo Bold"/>
                <a:cs typeface="Arimo Bold"/>
                <a:sym typeface="Arimo Bold"/>
              </a:rPr>
              <a:t>Gerou CSS com propriedades obsoletas de layout (floats) e quebrou o alinhamento no celular.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643062" y="5448300"/>
            <a:ext cx="2100262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16A34A"/>
                </a:solidFill>
                <a:latin typeface="Arimo Bold"/>
                <a:ea typeface="Arimo Bold"/>
                <a:cs typeface="Arimo Bold"/>
                <a:sym typeface="Arimo Bold"/>
              </a:rPr>
              <a:t>Onde Ajudou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044112" y="5448300"/>
            <a:ext cx="3875484" cy="3381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0"/>
              </a:lnSpc>
            </a:pPr>
            <a:r>
              <a:rPr lang="en-US" sz="202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Onde Errou / Atrapalhou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907256" y="3736181"/>
            <a:ext cx="7986712" cy="2257425"/>
            <a:chOff x="0" y="0"/>
            <a:chExt cx="10648950" cy="30099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0648950" cy="3009900"/>
            </a:xfrm>
            <a:custGeom>
              <a:avLst/>
              <a:gdLst/>
              <a:ahLst/>
              <a:cxnLst/>
              <a:rect r="r" b="b" t="t" l="l"/>
              <a:pathLst>
                <a:path h="3009900" w="10648950">
                  <a:moveTo>
                    <a:pt x="0" y="229997"/>
                  </a:moveTo>
                  <a:cubicBezTo>
                    <a:pt x="0" y="102997"/>
                    <a:pt x="102997" y="0"/>
                    <a:pt x="229997" y="0"/>
                  </a:cubicBezTo>
                  <a:lnTo>
                    <a:pt x="10418953" y="0"/>
                  </a:lnTo>
                  <a:cubicBezTo>
                    <a:pt x="10545953" y="0"/>
                    <a:pt x="10648950" y="102997"/>
                    <a:pt x="10648950" y="229997"/>
                  </a:cubicBezTo>
                  <a:lnTo>
                    <a:pt x="10648950" y="2779903"/>
                  </a:lnTo>
                  <a:cubicBezTo>
                    <a:pt x="10648950" y="2906903"/>
                    <a:pt x="10545953" y="3009900"/>
                    <a:pt x="10418953" y="3009900"/>
                  </a:cubicBezTo>
                  <a:lnTo>
                    <a:pt x="229997" y="3009900"/>
                  </a:lnTo>
                  <a:cubicBezTo>
                    <a:pt x="102997" y="3009900"/>
                    <a:pt x="0" y="2906903"/>
                    <a:pt x="0" y="2779903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CBD5E1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9394031" y="3736181"/>
            <a:ext cx="7986712" cy="2257425"/>
            <a:chOff x="0" y="0"/>
            <a:chExt cx="10648950" cy="30099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648950" cy="3009900"/>
            </a:xfrm>
            <a:custGeom>
              <a:avLst/>
              <a:gdLst/>
              <a:ahLst/>
              <a:cxnLst/>
              <a:rect r="r" b="b" t="t" l="l"/>
              <a:pathLst>
                <a:path h="3009900" w="10648950">
                  <a:moveTo>
                    <a:pt x="0" y="229997"/>
                  </a:moveTo>
                  <a:cubicBezTo>
                    <a:pt x="0" y="102997"/>
                    <a:pt x="102997" y="0"/>
                    <a:pt x="229997" y="0"/>
                  </a:cubicBezTo>
                  <a:lnTo>
                    <a:pt x="10418953" y="0"/>
                  </a:lnTo>
                  <a:cubicBezTo>
                    <a:pt x="10545953" y="0"/>
                    <a:pt x="10648950" y="102997"/>
                    <a:pt x="10648950" y="229997"/>
                  </a:cubicBezTo>
                  <a:lnTo>
                    <a:pt x="10648950" y="2779903"/>
                  </a:lnTo>
                  <a:cubicBezTo>
                    <a:pt x="10648950" y="2906903"/>
                    <a:pt x="10545953" y="3009900"/>
                    <a:pt x="10418953" y="3009900"/>
                  </a:cubicBezTo>
                  <a:lnTo>
                    <a:pt x="229997" y="3009900"/>
                  </a:lnTo>
                  <a:cubicBezTo>
                    <a:pt x="102997" y="3009900"/>
                    <a:pt x="0" y="2906903"/>
                    <a:pt x="0" y="2779903"/>
                  </a:cubicBezTo>
                  <a:close/>
                </a:path>
              </a:pathLst>
            </a:custGeom>
            <a:solidFill>
              <a:srgbClr val="F8FAFC"/>
            </a:solidFill>
            <a:ln w="14288" cap="sq">
              <a:solidFill>
                <a:srgbClr val="CBD5E1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28738" y="4193381"/>
            <a:ext cx="285750" cy="285750"/>
            <a:chOff x="0" y="0"/>
            <a:chExt cx="381000" cy="381000"/>
          </a:xfrm>
        </p:grpSpPr>
        <p:sp>
          <p:nvSpPr>
            <p:cNvPr name="Freeform 11" id="11" descr="image.png"/>
            <p:cNvSpPr/>
            <p:nvPr/>
          </p:nvSpPr>
          <p:spPr>
            <a:xfrm flipH="false" flipV="false" rot="0">
              <a:off x="0" y="0"/>
              <a:ext cx="381000" cy="381000"/>
            </a:xfrm>
            <a:custGeom>
              <a:avLst/>
              <a:gdLst/>
              <a:ahLst/>
              <a:cxnLst/>
              <a:rect r="r" b="b" t="t" l="l"/>
              <a:pathLst>
                <a:path h="381000" w="381000">
                  <a:moveTo>
                    <a:pt x="0" y="0"/>
                  </a:moveTo>
                  <a:lnTo>
                    <a:pt x="381000" y="0"/>
                  </a:lnTo>
                  <a:lnTo>
                    <a:pt x="38100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2500" r="0" b="-250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9815512" y="4193381"/>
            <a:ext cx="328612" cy="285750"/>
            <a:chOff x="0" y="0"/>
            <a:chExt cx="438150" cy="381000"/>
          </a:xfrm>
        </p:grpSpPr>
        <p:sp>
          <p:nvSpPr>
            <p:cNvPr name="Freeform 13" id="13" descr="image.png"/>
            <p:cNvSpPr/>
            <p:nvPr/>
          </p:nvSpPr>
          <p:spPr>
            <a:xfrm flipH="false" flipV="false" rot="0">
              <a:off x="0" y="0"/>
              <a:ext cx="438150" cy="381000"/>
            </a:xfrm>
            <a:custGeom>
              <a:avLst/>
              <a:gdLst/>
              <a:ahLst/>
              <a:cxnLst/>
              <a:rect r="r" b="b" t="t" l="l"/>
              <a:pathLst>
                <a:path h="381000" w="438150">
                  <a:moveTo>
                    <a:pt x="0" y="0"/>
                  </a:moveTo>
                  <a:lnTo>
                    <a:pt x="438150" y="0"/>
                  </a:lnTo>
                  <a:lnTo>
                    <a:pt x="438150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-2500" r="0" b="-250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14400" y="676275"/>
            <a:ext cx="17373600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7. CONCLUSÃO &amp; FUTURO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14400" y="1028700"/>
            <a:ext cx="17373600" cy="600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00"/>
              </a:lnSpc>
            </a:pPr>
            <a:r>
              <a:rPr lang="en-US" sz="3600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O Que Muda com o RNoticias?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757362" y="4157662"/>
            <a:ext cx="8926116" cy="357188"/>
            <a:chOff x="0" y="0"/>
            <a:chExt cx="11901488" cy="47625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1901486" cy="476250"/>
            </a:xfrm>
            <a:custGeom>
              <a:avLst/>
              <a:gdLst/>
              <a:ahLst/>
              <a:cxnLst/>
              <a:rect r="r" b="b" t="t" l="l"/>
              <a:pathLst>
                <a:path h="476250" w="11901486">
                  <a:moveTo>
                    <a:pt x="0" y="0"/>
                  </a:moveTo>
                  <a:lnTo>
                    <a:pt x="11901486" y="0"/>
                  </a:lnTo>
                  <a:lnTo>
                    <a:pt x="11901486" y="476250"/>
                  </a:lnTo>
                  <a:lnTo>
                    <a:pt x="0" y="4762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36931" r="0" b="-436931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1901488" cy="495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0F172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Hoje o site já...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328738" y="4724400"/>
            <a:ext cx="8929688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34155"/>
                </a:solidFill>
                <a:latin typeface="Arimo Bold"/>
                <a:ea typeface="Arimo Bold"/>
                <a:cs typeface="Arimo Bold"/>
                <a:sym typeface="Arimo Bold"/>
              </a:rPr>
              <a:t>• Entrega notícias locais com foco total na informação.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28738" y="5253038"/>
            <a:ext cx="8929688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34155"/>
                </a:solidFill>
                <a:latin typeface="Arimo Bold"/>
                <a:ea typeface="Arimo Bold"/>
                <a:cs typeface="Arimo Bold"/>
                <a:sym typeface="Arimo Bold"/>
              </a:rPr>
              <a:t>• Carrega instantaneamente mesmo em conexões fracas.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0287000" y="4157662"/>
            <a:ext cx="8001000" cy="357188"/>
            <a:chOff x="0" y="0"/>
            <a:chExt cx="10668000" cy="47625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68000" cy="476250"/>
            </a:xfrm>
            <a:custGeom>
              <a:avLst/>
              <a:gdLst/>
              <a:ahLst/>
              <a:cxnLst/>
              <a:rect r="r" b="b" t="t" l="l"/>
              <a:pathLst>
                <a:path h="476250" w="10668000">
                  <a:moveTo>
                    <a:pt x="0" y="0"/>
                  </a:moveTo>
                  <a:lnTo>
                    <a:pt x="10668000" y="0"/>
                  </a:lnTo>
                  <a:lnTo>
                    <a:pt x="10668000" y="476250"/>
                  </a:lnTo>
                  <a:lnTo>
                    <a:pt x="0" y="47625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386464" r="0" b="-386464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10668000" cy="4953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0F172A"/>
                  </a:solidFill>
                  <a:latin typeface="Arimo Bold"/>
                  <a:ea typeface="Arimo Bold"/>
                  <a:cs typeface="Arimo Bold"/>
                  <a:sym typeface="Arimo Bold"/>
                </a:rPr>
                <a:t>Próximos Passos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9815512" y="4724400"/>
            <a:ext cx="8472488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34155"/>
                </a:solidFill>
                <a:latin typeface="Arimo Bold"/>
                <a:ea typeface="Arimo Bold"/>
                <a:cs typeface="Arimo Bold"/>
                <a:sym typeface="Arimo Bold"/>
              </a:rPr>
              <a:t>1. Integração com previsão do tempo e linhas de ônibus.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15512" y="5253038"/>
            <a:ext cx="8472488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60"/>
              </a:lnSpc>
            </a:pPr>
            <a:r>
              <a:rPr lang="en-US" sz="1800" b="true">
                <a:solidFill>
                  <a:srgbClr val="334155"/>
                </a:solidFill>
                <a:latin typeface="Arimo Bold"/>
                <a:ea typeface="Arimo Bold"/>
                <a:cs typeface="Arimo Bold"/>
                <a:sym typeface="Arimo Bold"/>
              </a:rPr>
              <a:t>2. Painel colaborador para estudantes do CEEP HXV.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59100" y="789384"/>
            <a:ext cx="1714500" cy="400050"/>
            <a:chOff x="0" y="0"/>
            <a:chExt cx="2286000" cy="533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86000" cy="533400"/>
            </a:xfrm>
            <a:custGeom>
              <a:avLst/>
              <a:gdLst/>
              <a:ahLst/>
              <a:cxnLst/>
              <a:rect r="r" b="b" t="t" l="l"/>
              <a:pathLst>
                <a:path h="533400" w="22860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2171700" y="0"/>
                  </a:lnTo>
                  <a:cubicBezTo>
                    <a:pt x="2234819" y="0"/>
                    <a:pt x="2286000" y="51181"/>
                    <a:pt x="2286000" y="114300"/>
                  </a:cubicBezTo>
                  <a:lnTo>
                    <a:pt x="2286000" y="419100"/>
                  </a:lnTo>
                  <a:cubicBezTo>
                    <a:pt x="2286000" y="482219"/>
                    <a:pt x="2234819" y="533400"/>
                    <a:pt x="2171700" y="533400"/>
                  </a:cubicBezTo>
                  <a:lnTo>
                    <a:pt x="114300" y="533400"/>
                  </a:lnTo>
                  <a:cubicBezTo>
                    <a:pt x="51181" y="533400"/>
                    <a:pt x="0" y="482219"/>
                    <a:pt x="0" y="419100"/>
                  </a:cubicBez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1635919"/>
            <a:ext cx="16459200" cy="8079581"/>
            <a:chOff x="0" y="0"/>
            <a:chExt cx="21945600" cy="1077277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0772775"/>
            </a:xfrm>
            <a:custGeom>
              <a:avLst/>
              <a:gdLst/>
              <a:ahLst/>
              <a:cxnLst/>
              <a:rect r="r" b="b" t="t" l="l"/>
              <a:pathLst>
                <a:path h="10772775" w="21945600">
                  <a:moveTo>
                    <a:pt x="469900" y="0"/>
                  </a:moveTo>
                  <a:lnTo>
                    <a:pt x="21475700" y="0"/>
                  </a:lnTo>
                  <a:cubicBezTo>
                    <a:pt x="21735219" y="0"/>
                    <a:pt x="21945600" y="210381"/>
                    <a:pt x="21945600" y="469900"/>
                  </a:cubicBezTo>
                  <a:lnTo>
                    <a:pt x="21945600" y="10302875"/>
                  </a:lnTo>
                  <a:cubicBezTo>
                    <a:pt x="21945600" y="10562393"/>
                    <a:pt x="21735219" y="10772775"/>
                    <a:pt x="21475700" y="10772775"/>
                  </a:cubicBezTo>
                  <a:lnTo>
                    <a:pt x="469900" y="10772775"/>
                  </a:lnTo>
                  <a:cubicBezTo>
                    <a:pt x="210381" y="10772775"/>
                    <a:pt x="0" y="10562393"/>
                    <a:pt x="0" y="10302875"/>
                  </a:cubicBezTo>
                  <a:lnTo>
                    <a:pt x="0" y="469900"/>
                  </a:lnTo>
                  <a:cubicBezTo>
                    <a:pt x="0" y="210381"/>
                    <a:pt x="210381" y="0"/>
                    <a:pt x="46990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70" r="0" b="-1570"/>
              </a:stretch>
            </a:blipFill>
            <a:ln cap="rnd">
              <a:noFill/>
              <a:prstDash val="solid"/>
              <a:round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5830550" y="865584"/>
            <a:ext cx="1514475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5"/>
              </a:lnSpc>
            </a:pPr>
            <a:r>
              <a:rPr lang="en-US" sz="1462" b="true">
                <a:solidFill>
                  <a:srgbClr val="475569"/>
                </a:solidFill>
                <a:latin typeface="Arimo Bold"/>
                <a:ea typeface="Arimo Bold"/>
                <a:cs typeface="Arimo Bold"/>
                <a:sym typeface="Arimo Bold"/>
              </a:rPr>
              <a:t>VISUALIZAÇÃO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" y="561975"/>
            <a:ext cx="7179469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8. O PORTAL NA PRÁTICA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923925"/>
            <a:ext cx="7538437" cy="483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Tela Inicial do Portal RNoticias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11029950"/>
            <a:ext cx="18288000" cy="14288"/>
            <a:chOff x="0" y="0"/>
            <a:chExt cx="24384000" cy="190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11958638"/>
            <a:ext cx="18288000" cy="14288"/>
            <a:chOff x="0" y="0"/>
            <a:chExt cx="24384000" cy="19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384000" cy="19050"/>
            </a:xfrm>
            <a:custGeom>
              <a:avLst/>
              <a:gdLst/>
              <a:ahLst/>
              <a:cxnLst/>
              <a:rect r="r" b="b" t="t" l="l"/>
              <a:pathLst>
                <a:path h="19050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1905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15659100" y="789384"/>
            <a:ext cx="1714500" cy="400050"/>
            <a:chOff x="0" y="0"/>
            <a:chExt cx="2286000" cy="5334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286000" cy="533400"/>
            </a:xfrm>
            <a:custGeom>
              <a:avLst/>
              <a:gdLst/>
              <a:ahLst/>
              <a:cxnLst/>
              <a:rect r="r" b="b" t="t" l="l"/>
              <a:pathLst>
                <a:path h="533400" w="2286000">
                  <a:moveTo>
                    <a:pt x="0" y="114300"/>
                  </a:moveTo>
                  <a:cubicBezTo>
                    <a:pt x="0" y="51181"/>
                    <a:pt x="51181" y="0"/>
                    <a:pt x="114300" y="0"/>
                  </a:cubicBezTo>
                  <a:lnTo>
                    <a:pt x="2171700" y="0"/>
                  </a:lnTo>
                  <a:cubicBezTo>
                    <a:pt x="2234819" y="0"/>
                    <a:pt x="2286000" y="51181"/>
                    <a:pt x="2286000" y="114300"/>
                  </a:cubicBezTo>
                  <a:lnTo>
                    <a:pt x="2286000" y="419100"/>
                  </a:lnTo>
                  <a:cubicBezTo>
                    <a:pt x="2286000" y="482219"/>
                    <a:pt x="2234819" y="533400"/>
                    <a:pt x="2171700" y="533400"/>
                  </a:cubicBezTo>
                  <a:lnTo>
                    <a:pt x="114300" y="533400"/>
                  </a:lnTo>
                  <a:cubicBezTo>
                    <a:pt x="51181" y="533400"/>
                    <a:pt x="0" y="482219"/>
                    <a:pt x="0" y="419100"/>
                  </a:cubicBezTo>
                  <a:close/>
                </a:path>
              </a:pathLst>
            </a:custGeom>
            <a:solidFill>
              <a:srgbClr val="E2E8F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14400" y="1635919"/>
            <a:ext cx="16459200" cy="8079581"/>
            <a:chOff x="0" y="0"/>
            <a:chExt cx="21945600" cy="1077277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945600" cy="10772775"/>
            </a:xfrm>
            <a:custGeom>
              <a:avLst/>
              <a:gdLst/>
              <a:ahLst/>
              <a:cxnLst/>
              <a:rect r="r" b="b" t="t" l="l"/>
              <a:pathLst>
                <a:path h="10772775" w="21945600">
                  <a:moveTo>
                    <a:pt x="469900" y="0"/>
                  </a:moveTo>
                  <a:lnTo>
                    <a:pt x="21475700" y="0"/>
                  </a:lnTo>
                  <a:cubicBezTo>
                    <a:pt x="21735219" y="0"/>
                    <a:pt x="21945600" y="210381"/>
                    <a:pt x="21945600" y="469900"/>
                  </a:cubicBezTo>
                  <a:lnTo>
                    <a:pt x="21945600" y="10302875"/>
                  </a:lnTo>
                  <a:cubicBezTo>
                    <a:pt x="21945600" y="10562393"/>
                    <a:pt x="21735219" y="10772775"/>
                    <a:pt x="21475700" y="10772775"/>
                  </a:cubicBezTo>
                  <a:lnTo>
                    <a:pt x="469900" y="10772775"/>
                  </a:lnTo>
                  <a:cubicBezTo>
                    <a:pt x="210381" y="10772775"/>
                    <a:pt x="0" y="10562393"/>
                    <a:pt x="0" y="10302875"/>
                  </a:cubicBezTo>
                  <a:lnTo>
                    <a:pt x="0" y="469900"/>
                  </a:lnTo>
                  <a:cubicBezTo>
                    <a:pt x="0" y="210381"/>
                    <a:pt x="210381" y="0"/>
                    <a:pt x="469900" y="0"/>
                  </a:cubicBezTo>
                  <a:close/>
                </a:path>
              </a:pathLst>
            </a:custGeom>
            <a:blipFill>
              <a:blip r:embed="rId2"/>
              <a:stretch>
                <a:fillRect l="-69" t="0" r="-69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5830550" y="865584"/>
            <a:ext cx="1514475" cy="238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55"/>
              </a:lnSpc>
            </a:pPr>
            <a:r>
              <a:rPr lang="en-US" sz="1462" b="true">
                <a:solidFill>
                  <a:srgbClr val="475569"/>
                </a:solidFill>
                <a:latin typeface="Arimo Bold"/>
                <a:ea typeface="Arimo Bold"/>
                <a:cs typeface="Arimo Bold"/>
                <a:sym typeface="Arimo Bold"/>
              </a:rPr>
              <a:t>VISUALIZAÇÃO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4400" y="561975"/>
            <a:ext cx="8161734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575" b="true">
                <a:solidFill>
                  <a:srgbClr val="DC2626"/>
                </a:solidFill>
                <a:latin typeface="Arimo Bold"/>
                <a:ea typeface="Arimo Bold"/>
                <a:cs typeface="Arimo Bold"/>
                <a:sym typeface="Arimo Bold"/>
              </a:rPr>
              <a:t>9. O PORTAL NA PRÁTICA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14400" y="923925"/>
            <a:ext cx="8569823" cy="483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925" b="true">
                <a:solidFill>
                  <a:srgbClr val="0F172A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Página de Leitura (Editoria Mundo)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" y="8043862"/>
            <a:ext cx="16459200" cy="1557338"/>
            <a:chOff x="0" y="0"/>
            <a:chExt cx="21945600" cy="207645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945600" cy="2076450"/>
            </a:xfrm>
            <a:custGeom>
              <a:avLst/>
              <a:gdLst/>
              <a:ahLst/>
              <a:cxnLst/>
              <a:rect r="r" b="b" t="t" l="l"/>
              <a:pathLst>
                <a:path h="2076450" w="21945600">
                  <a:moveTo>
                    <a:pt x="0" y="228600"/>
                  </a:moveTo>
                  <a:cubicBezTo>
                    <a:pt x="0" y="102362"/>
                    <a:pt x="102362" y="0"/>
                    <a:pt x="228600" y="0"/>
                  </a:cubicBezTo>
                  <a:lnTo>
                    <a:pt x="21717000" y="0"/>
                  </a:lnTo>
                  <a:cubicBezTo>
                    <a:pt x="21843237" y="0"/>
                    <a:pt x="21945600" y="102362"/>
                    <a:pt x="21945600" y="228600"/>
                  </a:cubicBezTo>
                  <a:lnTo>
                    <a:pt x="21945600" y="1847850"/>
                  </a:lnTo>
                  <a:cubicBezTo>
                    <a:pt x="21945600" y="1974088"/>
                    <a:pt x="21843237" y="2076450"/>
                    <a:pt x="21717000" y="2076450"/>
                  </a:cubicBezTo>
                  <a:lnTo>
                    <a:pt x="228600" y="2076450"/>
                  </a:lnTo>
                  <a:cubicBezTo>
                    <a:pt x="102362" y="2076450"/>
                    <a:pt x="0" y="1974088"/>
                    <a:pt x="0" y="1847850"/>
                  </a:cubicBezTo>
                  <a:close/>
                </a:path>
              </a:pathLst>
            </a:custGeom>
            <a:solidFill>
              <a:srgbClr val="0F172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287375" y="8529638"/>
            <a:ext cx="3571875" cy="585788"/>
            <a:chOff x="0" y="0"/>
            <a:chExt cx="4762500" cy="78105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762500" cy="781050"/>
            </a:xfrm>
            <a:custGeom>
              <a:avLst/>
              <a:gdLst/>
              <a:ahLst/>
              <a:cxnLst/>
              <a:rect r="r" b="b" t="t" l="l"/>
              <a:pathLst>
                <a:path h="781050" w="4762500">
                  <a:moveTo>
                    <a:pt x="0" y="152400"/>
                  </a:moveTo>
                  <a:cubicBezTo>
                    <a:pt x="0" y="68199"/>
                    <a:pt x="68199" y="0"/>
                    <a:pt x="152400" y="0"/>
                  </a:cubicBezTo>
                  <a:lnTo>
                    <a:pt x="4610100" y="0"/>
                  </a:lnTo>
                  <a:cubicBezTo>
                    <a:pt x="4694301" y="0"/>
                    <a:pt x="4762500" y="68199"/>
                    <a:pt x="4762500" y="152400"/>
                  </a:cubicBezTo>
                  <a:lnTo>
                    <a:pt x="4762500" y="628650"/>
                  </a:lnTo>
                  <a:cubicBezTo>
                    <a:pt x="4762500" y="712851"/>
                    <a:pt x="4694301" y="781050"/>
                    <a:pt x="4610100" y="781050"/>
                  </a:cubicBezTo>
                  <a:lnTo>
                    <a:pt x="152400" y="781050"/>
                  </a:lnTo>
                  <a:cubicBezTo>
                    <a:pt x="68199" y="781050"/>
                    <a:pt x="0" y="712851"/>
                    <a:pt x="0" y="628650"/>
                  </a:cubicBezTo>
                  <a:close/>
                </a:path>
              </a:pathLst>
            </a:custGeom>
            <a:solidFill>
              <a:srgbClr val="DC2626"/>
            </a:solidFill>
          </p:spPr>
        </p:sp>
      </p:grpSp>
      <p:sp>
        <p:nvSpPr>
          <p:cNvPr name="Freeform 6" id="6"/>
          <p:cNvSpPr/>
          <p:nvPr/>
        </p:nvSpPr>
        <p:spPr>
          <a:xfrm flipH="false" flipV="false" rot="0">
            <a:off x="6280195" y="1028700"/>
            <a:ext cx="5727610" cy="5727610"/>
          </a:xfrm>
          <a:custGeom>
            <a:avLst/>
            <a:gdLst/>
            <a:ahLst/>
            <a:cxnLst/>
            <a:rect r="r" b="b" t="t" l="l"/>
            <a:pathLst>
              <a:path h="5727610" w="5727610">
                <a:moveTo>
                  <a:pt x="0" y="0"/>
                </a:moveTo>
                <a:lnTo>
                  <a:pt x="5727610" y="0"/>
                </a:lnTo>
                <a:lnTo>
                  <a:pt x="5727610" y="5727610"/>
                </a:lnTo>
                <a:lnTo>
                  <a:pt x="0" y="572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w="114300" cap="rnd">
            <a:solidFill>
              <a:srgbClr val="000000"/>
            </a:solidFill>
            <a:prstDash val="solid"/>
            <a:round/>
          </a:ln>
        </p:spPr>
      </p:sp>
      <p:sp>
        <p:nvSpPr>
          <p:cNvPr name="TextBox 7" id="7"/>
          <p:cNvSpPr txBox="true"/>
          <p:nvPr/>
        </p:nvSpPr>
        <p:spPr>
          <a:xfrm rot="0">
            <a:off x="1428750" y="8386762"/>
            <a:ext cx="564445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3150" b="true">
                <a:solidFill>
                  <a:srgbClr val="FFFFFF"/>
                </a:solidFill>
                <a:latin typeface="Merriweather Bold"/>
                <a:ea typeface="Merriweather Bold"/>
                <a:cs typeface="Merriweather Bold"/>
                <a:sym typeface="Merriweather Bold"/>
              </a:rPr>
              <a:t>Obrigado!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28750" y="8967788"/>
            <a:ext cx="5375672" cy="290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25"/>
              </a:lnSpc>
            </a:pPr>
            <a:r>
              <a:rPr lang="en-US" sz="1687">
                <a:solidFill>
                  <a:srgbClr val="94A3B8"/>
                </a:solidFill>
                <a:latin typeface="Arimo"/>
                <a:ea typeface="Arimo"/>
                <a:cs typeface="Arimo"/>
                <a:sym typeface="Arimo"/>
              </a:rPr>
              <a:t>Site: </a:t>
            </a:r>
            <a:r>
              <a:rPr lang="en-US" sz="1687" b="true">
                <a:solidFill>
                  <a:srgbClr val="94A3B8"/>
                </a:solidFill>
                <a:latin typeface="Arimo Bold"/>
                <a:ea typeface="Arimo Bold"/>
                <a:cs typeface="Arimo Bold"/>
                <a:sym typeface="Arimo Bold"/>
              </a:rPr>
              <a:t>grupo-rnoticias.github.io/rnoticias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430250" y="8653462"/>
            <a:ext cx="3143250" cy="319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Perguntas &amp; Comentários?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DAHXR6exSpQ</dc:identifier>
  <dcterms:modified xsi:type="dcterms:W3CDTF">2011-08-01T06:04:30Z</dcterms:modified>
  <cp:revision>1</cp:revision>
  <dc:title>RNoticias - Apresentação Digital ao Extremo 2026.pptx</dc:title>
</cp:coreProperties>
</file>